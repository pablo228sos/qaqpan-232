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50368e296140a0" /><Relationship Type="http://schemas.openxmlformats.org/officeDocument/2006/relationships/extended-properties" Target="/docProps/app.xml" Id="R87ca8f650d624c47" /><Relationship Type="http://schemas.openxmlformats.org/officeDocument/2006/relationships/officeDocument" Target="/ppt/presentation.xml" Id="Rb20e9ccc01e14e8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308258a9d524570"/>
  </p:sldMasterIdLst>
  <p:notesMasterIdLst>
    <p:notesMasterId xmlns:r="http://schemas.openxmlformats.org/officeDocument/2006/relationships" r:id="R844f9d988c124e75"/>
  </p:notesMasterIdLst>
  <p:sldIdLst>
    <p:sldId xmlns:r="http://schemas.openxmlformats.org/officeDocument/2006/relationships" id="256" r:id="Re0e8368212604334"/>
    <p:sldId xmlns:r="http://schemas.openxmlformats.org/officeDocument/2006/relationships" id="257" r:id="Rf91ad524efed4dd2"/>
    <p:sldId xmlns:r="http://schemas.openxmlformats.org/officeDocument/2006/relationships" id="258" r:id="R27eb2064dec74ee9"/>
    <p:sldId xmlns:r="http://schemas.openxmlformats.org/officeDocument/2006/relationships" id="259" r:id="Rda9cb047afdc4121"/>
    <p:sldId xmlns:r="http://schemas.openxmlformats.org/officeDocument/2006/relationships" id="260" r:id="R8c8312520fc74b9f"/>
    <p:sldId xmlns:r="http://schemas.openxmlformats.org/officeDocument/2006/relationships" id="261" r:id="Rfd9e650081ad4267"/>
    <p:sldId xmlns:r="http://schemas.openxmlformats.org/officeDocument/2006/relationships" id="262" r:id="Red94572c7d194cd1"/>
    <p:sldId xmlns:r="http://schemas.openxmlformats.org/officeDocument/2006/relationships" id="263" r:id="R2704a23307794ee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71204a83e8442c" /><Relationship Type="http://schemas.openxmlformats.org/officeDocument/2006/relationships/slideMaster" Target="/ppt/slideMasters/slideMaster1.xml" Id="Rd308258a9d524570" /><Relationship Type="http://schemas.openxmlformats.org/officeDocument/2006/relationships/notesMaster" Target="/ppt/notesMasters/notesMaster1.xml" Id="R844f9d988c124e75" /><Relationship Type="http://schemas.openxmlformats.org/officeDocument/2006/relationships/presProps" Target="/ppt/presProps.xml" Id="R03441b6a665f458e" /><Relationship Type="http://schemas.openxmlformats.org/officeDocument/2006/relationships/tableStyles" Target="/ppt/tableStyles.xml" Id="Rf3a022b23e4b4fe8" /><Relationship Type="http://schemas.openxmlformats.org/officeDocument/2006/relationships/slide" Target="/ppt/slides/slide1.xml" Id="Re0e8368212604334" /><Relationship Type="http://schemas.openxmlformats.org/officeDocument/2006/relationships/slide" Target="/ppt/slides/slide2.xml" Id="Rf91ad524efed4dd2" /><Relationship Type="http://schemas.openxmlformats.org/officeDocument/2006/relationships/slide" Target="/ppt/slides/slide3.xml" Id="R27eb2064dec74ee9" /><Relationship Type="http://schemas.openxmlformats.org/officeDocument/2006/relationships/slide" Target="/ppt/slides/slide4.xml" Id="Rda9cb047afdc4121" /><Relationship Type="http://schemas.openxmlformats.org/officeDocument/2006/relationships/slide" Target="/ppt/slides/slide5.xml" Id="R8c8312520fc74b9f" /><Relationship Type="http://schemas.openxmlformats.org/officeDocument/2006/relationships/slide" Target="/ppt/slides/slide6.xml" Id="Rfd9e650081ad4267" /><Relationship Type="http://schemas.openxmlformats.org/officeDocument/2006/relationships/slide" Target="/ppt/slides/slide7.xml" Id="Red94572c7d194cd1" /><Relationship Type="http://schemas.openxmlformats.org/officeDocument/2006/relationships/slide" Target="/ppt/slides/slide8.xml" Id="R2704a23307794ee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4314d019b940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Qaqpan">
  <a:themeElements>
    <a:clrScheme name="Qaqpa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Qaqp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350ee719a994c62" /><Relationship Type="http://schemas.openxmlformats.org/officeDocument/2006/relationships/notesMaster" Target="/ppt/notesMasters/notesMaster1.xml" Id="R13f68c33767b48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5df33605da4043" /><Relationship Type="http://schemas.openxmlformats.org/officeDocument/2006/relationships/notesMaster" Target="/ppt/notesMasters/notesMaster1.xml" Id="R54e6f78274b344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c245f9fdc364648" /><Relationship Type="http://schemas.openxmlformats.org/officeDocument/2006/relationships/notesMaster" Target="/ppt/notesMasters/notesMaster1.xml" Id="R955d0c969540418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ff58f90b314268" /><Relationship Type="http://schemas.openxmlformats.org/officeDocument/2006/relationships/notesMaster" Target="/ppt/notesMasters/notesMaster1.xml" Id="R3a8c7508ccba478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43c648c7a944d9" /><Relationship Type="http://schemas.openxmlformats.org/officeDocument/2006/relationships/notesMaster" Target="/ppt/notesMasters/notesMaster1.xml" Id="R8b346b50b75a444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011bcec51f64e28" /><Relationship Type="http://schemas.openxmlformats.org/officeDocument/2006/relationships/notesMaster" Target="/ppt/notesMasters/notesMaster1.xml" Id="R422a01eb1c1e47b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72bdece8cd043df" /><Relationship Type="http://schemas.openxmlformats.org/officeDocument/2006/relationships/notesMaster" Target="/ppt/notesMasters/notesMaster1.xml" Id="R054aad0a13f54bc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b4d2fbc88bd490c" /><Relationship Type="http://schemas.openxmlformats.org/officeDocument/2006/relationships/notesMaster" Target="/ppt/notesMasters/notesMaster1.xml" Id="R0f8ca0bc4de146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Начинаем с узнаваемого обещания. Потом показываем цену ошибки. С 16 сентября 2025 года в Казахстане действует статья 232-1. В зависимости от обстоятельств ответственность может достигать семи лет. Qaqpan нужен до первой транзакции.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https://www.gov.kz/memleket/entities/qriim/press/news/details/1068462?lang=ru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Три цифры дают жюри масштаб без преувеличения. В 2024 году официально выявили 6 200 дроп-карт с оборотом 24 миллиарда тенге. Антифрод-центр Нацбанка зарегистрировал более 60 тысяч инцидентов за десять месяцев. Мы не складываем эти показатели: они описывают разные срезы проблемы.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https://www.gov.kz/memleket/entities/ardfm/press/news/details/1065183?lang=ru</a:t>
            </a:r>
          </a:p>
          <a:p xmlns:a="http://schemas.openxmlformats.org/drawingml/2006/main">
            <a:r>
              <a:t>- https://nationalbank.kz/ru/news/informacionnye-soobshcheniya/17702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Банковские системы замечают подозрительные транзакции. Qaqpan работает раньше, в момент вербовки. Человек ещё может отказаться. Мы дополняем защиту банка и помогаем не допустить первую опасную операцию.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https://nationalbank.kz/ru/news/informacionnye-soobshcheniya/17702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Это скриншот работающего продукта. Для надёжного демо вставляем текст. Ещё можно загрузить скриншот на русском или казахском. Прототип не хранит сообщения на сервере.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https://qaqpan-232.osprey-shed6h9b8p81a.Qaqpan.site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Мы не обвиняем человека и не обещаем, что вакансия безопасна. Интерфейс показывает конкретные признаки, движение денег и следующий безопасный шаг. Пользователь понимает, что именно нужно перепроверить.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https://fingramota.kz/ru/news/post/ne-bud-marionetkoj-moshennikov-skazhi-net-dropperstvu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Внутри Qaqpan символьный TF-IDF и Logistic Regression. Мы выгрузили веса модели в JSON, поэтому проверка работает в браузере. Отдельный слой правил находит понятные признаки: просьбу принять деньги, передать карту или скрыть операцию. Итоговый индекс не является вероятностью преступления.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https://github.com/naptha/tesseract.js</a:t>
            </a:r>
          </a:p>
          <a:p xmlns:a="http://schemas.openxmlformats.org/drawingml/2006/main">
            <a:r>
              <a:t>- https://scikit-learn.org/stable/modules/linear_model.html#logistic-regression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Варианты одного шаблона не пересекают обучение и тест. На 68 тестовых сообщениях система нашла 34 из 44 риск-примеров. Ложных тревог на этом тесте не было. F1 равен 0,872. Корпус синтетический, поэтому это проверка механики, а не заявление о качестве на реальном рынке. Мы прямо показываем 10 пропущенных риск-примеров.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artifacts: artifacts/metrics.json; data/offers.csv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Главный показатель простой: сколько людей после проверки не передали карту, доступ или деньги. Начинаем с вузов и молодёжных центров. Потом предлагаем проверку сайтам вакансий и профилактическим программам банков. Работающий MVP можно открыть прямо сейчас.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https://qaqpan-232.osprey-shed6h9b8p81a.Qaqpan.site</a:t>
            </a:r>
          </a:p>
          <a:p xmlns:a="http://schemas.openxmlformats.org/drawingml/2006/main">
            <a:r>
              <a:t>- https://www.gov.kz/memleket/entities/mvd-atyrau/press/news/1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8487e85c2447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74b9d825124878" /><Relationship Type="http://schemas.openxmlformats.org/officeDocument/2006/relationships/slideLayout" Target="/ppt/slideLayouts/slideLayout1.xml" Id="R04bf3e835c3a489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4bf3e835c3a489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Qaqpan">
  <a:themeElements>
    <a:clrScheme name="Qaqpa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Qaqp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40882035be495a" /><Relationship Type="http://schemas.openxmlformats.org/officeDocument/2006/relationships/notesSlide" Target="/ppt/notesSlides/notesSlide1.xml" Id="Re0a841d0341f413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5fbdafe5514e33" /><Relationship Type="http://schemas.openxmlformats.org/officeDocument/2006/relationships/notesSlide" Target="/ppt/notesSlides/notesSlide2.xml" Id="Rda7d665b7c5041c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89f48f8b04ab7" /><Relationship Type="http://schemas.openxmlformats.org/officeDocument/2006/relationships/notesSlide" Target="/ppt/notesSlides/notesSlide3.xml" Id="Rb642e9651ea04f9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76944f70b249ed" /><Relationship Type="http://schemas.openxmlformats.org/officeDocument/2006/relationships/image" Target="/ppt/media/image.jpeg" Id="Ra3a3f349d2624cf5" /><Relationship Type="http://schemas.openxmlformats.org/officeDocument/2006/relationships/notesSlide" Target="/ppt/notesSlides/notesSlide4.xml" Id="R9998d3ac1768467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e4a30f10054d33" /><Relationship Type="http://schemas.openxmlformats.org/officeDocument/2006/relationships/notesSlide" Target="/ppt/notesSlides/notesSlide5.xml" Id="R27c54d745eb1452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1131b179b8468c" /><Relationship Type="http://schemas.openxmlformats.org/officeDocument/2006/relationships/notesSlide" Target="/ppt/notesSlides/notesSlide6.xml" Id="Rf406614e5b0e41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dc3dbdc1444b06" /><Relationship Type="http://schemas.openxmlformats.org/officeDocument/2006/relationships/notesSlide" Target="/ppt/notesSlides/notesSlide7.xml" Id="R5a1ef77999ee483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d95156430d4f0b" /><Relationship Type="http://schemas.openxmlformats.org/officeDocument/2006/relationships/notesSlide" Target="/ppt/notesSlides/notesSlide8.xml" Id="R339ba615bf954b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42-28">
            <a:extLst xmlns:a="http://schemas.openxmlformats.org/drawingml/2006/main">
              <a:ext uri="{FF2B5EF4-FFF2-40B4-BE49-F238E27FC236}">
                <a16:creationId xmlns:a16="http://schemas.microsoft.com/office/drawing/2014/main" id="{220F491F-9250-4FDC-927C-0313D8F75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1554F64C-05E6-4124-B4DA-8B0C46E3F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NOVAHACK · 01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C81B7E7F-9044-4B48-A3CD-DBF53BE0E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4" name="shape-42-88">
            <a:extLst xmlns:a="http://schemas.openxmlformats.org/drawingml/2006/main">
              <a:ext uri="{FF2B5EF4-FFF2-40B4-BE49-F238E27FC236}">
                <a16:creationId xmlns:a16="http://schemas.microsoft.com/office/drawing/2014/main" id="{14A02825-5336-47D6-ADB0-12F85E11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38200"/>
            <a:ext cx="26479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4232"/>
          </a:solidFill>
          <a:ln xmlns:a="http://schemas.openxmlformats.org/drawingml/2006/main" w="0">
            <a:solidFill>
              <a:srgbClr val="E64232"/>
            </a:solidFill>
            <a:prstDash val="solid"/>
          </a:ln>
        </p:spPr>
      </p:sp>
      <p:sp>
        <p:nvSpPr>
          <p:cNvPr id="5" name="text-54-95">
            <a:extLst xmlns:a="http://schemas.openxmlformats.org/drawingml/2006/main">
              <a:ext uri="{FF2B5EF4-FFF2-40B4-BE49-F238E27FC236}">
                <a16:creationId xmlns:a16="http://schemas.microsoft.com/office/drawing/2014/main" id="{BDE8830A-7292-47BF-80C4-A02035B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04875"/>
            <a:ext cx="2419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SOCIAL FUTURE · KAZAKHSTAN</a:t>
            </a:r>
          </a:p>
        </p:txBody>
      </p:sp>
      <p:sp>
        <p:nvSpPr>
          <p:cNvPr id="6" name="text-42-155">
            <a:extLst xmlns:a="http://schemas.openxmlformats.org/drawingml/2006/main">
              <a:ext uri="{FF2B5EF4-FFF2-40B4-BE49-F238E27FC236}">
                <a16:creationId xmlns:a16="http://schemas.microsoft.com/office/drawing/2014/main" id="{79327996-329A-463A-BC19-1B0746A26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7048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50 000 ₸</a:t>
            </a:r>
          </a:p>
          <a:p xmlns:a="http://schemas.openxmlformats.org/drawingml/2006/main">
            <a:pPr algn="l">
              <a:defRPr sz="7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7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за вечер.</a:t>
            </a:r>
          </a:p>
        </p:txBody>
      </p:sp>
      <p:sp>
        <p:nvSpPr>
          <p:cNvPr id="7" name="text-42-410">
            <a:extLst xmlns:a="http://schemas.openxmlformats.org/drawingml/2006/main">
              <a:ext uri="{FF2B5EF4-FFF2-40B4-BE49-F238E27FC236}">
                <a16:creationId xmlns:a16="http://schemas.microsoft.com/office/drawing/2014/main" id="{CFBF8DD7-28F1-4E05-95E0-6827225B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905250"/>
            <a:ext cx="7048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10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До 7 лет</a:t>
            </a:r>
          </a:p>
          <a:p xmlns:a="http://schemas.openxmlformats.org/drawingml/2006/main">
            <a:pPr algn="l">
              <a:defRPr sz="510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510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последствий.</a:t>
            </a:r>
          </a:p>
        </p:txBody>
      </p:sp>
      <p:sp>
        <p:nvSpPr>
          <p:cNvPr id="8" name="shape-890-128">
            <a:extLst xmlns:a="http://schemas.openxmlformats.org/drawingml/2006/main">
              <a:ext uri="{FF2B5EF4-FFF2-40B4-BE49-F238E27FC236}">
                <a16:creationId xmlns:a16="http://schemas.microsoft.com/office/drawing/2014/main" id="{79AED37F-7CA7-4B17-B34B-44644574D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219200"/>
            <a:ext cx="2952750" cy="409575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9" name="text-918-158">
            <a:extLst xmlns:a="http://schemas.openxmlformats.org/drawingml/2006/main">
              <a:ext uri="{FF2B5EF4-FFF2-40B4-BE49-F238E27FC236}">
                <a16:creationId xmlns:a16="http://schemas.microsoft.com/office/drawing/2014/main" id="{B6E4F7BD-F52E-4028-A8CE-90757D00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504950"/>
            <a:ext cx="23622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A7A8A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A7A8A2"/>
                </a:solidFill>
                <a:latin typeface="Aptos"/>
                <a:ea typeface="Aptos"/>
                <a:cs typeface="Aptos"/>
              </a:rPr>
              <a:t>ВАКАНСИЯ</a:t>
            </a:r>
          </a:p>
        </p:txBody>
      </p:sp>
      <p:sp>
        <p:nvSpPr>
          <p:cNvPr id="10" name="text-918-205">
            <a:extLst xmlns:a="http://schemas.openxmlformats.org/drawingml/2006/main">
              <a:ext uri="{FF2B5EF4-FFF2-40B4-BE49-F238E27FC236}">
                <a16:creationId xmlns:a16="http://schemas.microsoft.com/office/drawing/2014/main" id="{80E581FD-CB46-4E12-84D7-2F9575FF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1952625"/>
            <a:ext cx="23622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«Прими деньги</a:t>
            </a:r>
          </a:p>
          <a:p xmlns:a="http://schemas.openxmlformats.org/drawingml/2006/main">
            <a:pPr algn="l">
              <a:defRPr sz="21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на свою карту.</a:t>
            </a:r>
          </a:p>
          <a:p xmlns:a="http://schemas.openxmlformats.org/drawingml/2006/main">
            <a:pPr algn="l">
              <a:defRPr sz="21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Оставь 10%.</a:t>
            </a:r>
          </a:p>
          <a:p xmlns:a="http://schemas.openxmlformats.org/drawingml/2006/main">
            <a:pPr algn="l">
              <a:defRPr sz="21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Остальное</a:t>
            </a:r>
          </a:p>
          <a:p xmlns:a="http://schemas.openxmlformats.org/drawingml/2006/main">
            <a:pPr algn="l">
              <a:defRPr sz="21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менеджеру.»</a:t>
            </a:r>
          </a:p>
        </p:txBody>
      </p:sp>
      <p:sp>
        <p:nvSpPr>
          <p:cNvPr id="11" name="line-918-456">
            <a:extLst xmlns:a="http://schemas.openxmlformats.org/drawingml/2006/main">
              <a:ext uri="{FF2B5EF4-FFF2-40B4-BE49-F238E27FC236}">
                <a16:creationId xmlns:a16="http://schemas.microsoft.com/office/drawing/2014/main" id="{92FE2174-840A-4D24-BEFC-D0F64E64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343400"/>
            <a:ext cx="2362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B4D46"/>
            </a:solidFill>
            <a:prstDash val="solid"/>
          </a:ln>
        </p:spPr>
      </p:sp>
      <p:sp>
        <p:nvSpPr>
          <p:cNvPr id="12" name="text-918-480">
            <a:extLst xmlns:a="http://schemas.openxmlformats.org/drawingml/2006/main">
              <a:ext uri="{FF2B5EF4-FFF2-40B4-BE49-F238E27FC236}">
                <a16:creationId xmlns:a16="http://schemas.microsoft.com/office/drawing/2014/main" id="{9AF252F7-0AD2-4121-B255-C9ABCD1C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572000"/>
            <a:ext cx="23622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7"/>
                </a:solidFill>
                <a:latin typeface="Aptos"/>
                <a:ea typeface="Aptos"/>
                <a:cs typeface="Aptos"/>
              </a:rPr>
              <a:t>Qaqpan показывает, чем может</a:t>
            </a:r>
          </a:p>
          <a:p xmlns:a="http://schemas.openxmlformats.org/drawingml/2006/main">
            <a:pPr algn="l">
              <a:defRPr sz="1200" b="0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3F0E7"/>
                </a:solidFill>
                <a:latin typeface="Aptos"/>
                <a:ea typeface="Aptos"/>
                <a:cs typeface="Aptos"/>
              </a:rPr>
              <a:t>закончиться такое предложение.</a:t>
            </a:r>
          </a:p>
        </p:txBody>
      </p:sp>
      <p:sp>
        <p:nvSpPr>
          <p:cNvPr id="13" name="text-42-650">
            <a:extLst xmlns:a="http://schemas.openxmlformats.org/drawingml/2006/main">
              <a:ext uri="{FF2B5EF4-FFF2-40B4-BE49-F238E27FC236}">
                <a16:creationId xmlns:a16="http://schemas.microsoft.com/office/drawing/2014/main" id="{DE1E4443-6576-4BEA-8F10-93F5ABE30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638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Проверка опасных вакансий до первого перевода</a:t>
            </a:r>
          </a:p>
        </p:txBody>
      </p:sp>
    </p:spTree>
    <p:extLst>
      <p:ext uri="{BB962C8B-B14F-4D97-AF65-F5344CB8AC3E}">
        <p14:creationId xmlns:p14="http://schemas.microsoft.com/office/powerpoint/2010/main" val="180397976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42-28">
            <a:extLst xmlns:a="http://schemas.openxmlformats.org/drawingml/2006/main">
              <a:ext uri="{FF2B5EF4-FFF2-40B4-BE49-F238E27FC236}">
                <a16:creationId xmlns:a16="http://schemas.microsoft.com/office/drawing/2014/main" id="{4446E5AF-AD64-4D42-94F1-2DC5A467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E63F8AFE-AB30-4103-9161-C58ED612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NOVAHACK · 02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77744083-9E9B-485B-80D4-16F18AB89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4" name="text-42-91">
            <a:extLst xmlns:a="http://schemas.openxmlformats.org/drawingml/2006/main">
              <a:ext uri="{FF2B5EF4-FFF2-40B4-BE49-F238E27FC236}">
                <a16:creationId xmlns:a16="http://schemas.microsoft.com/office/drawing/2014/main" id="{015E07A7-49F3-4886-A916-857FF7B2F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0001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360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Это уже массовая проблема.</a:t>
            </a:r>
          </a:p>
        </p:txBody>
      </p:sp>
      <p:sp>
        <p:nvSpPr>
          <p:cNvPr id="5" name="text-42-164">
            <a:extLst xmlns:a="http://schemas.openxmlformats.org/drawingml/2006/main">
              <a:ext uri="{FF2B5EF4-FFF2-40B4-BE49-F238E27FC236}">
                <a16:creationId xmlns:a16="http://schemas.microsoft.com/office/drawing/2014/main" id="{9BB25272-2C27-4370-95D1-9D8009C86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Официальные данные Казахстана</a:t>
            </a:r>
          </a:p>
        </p:txBody>
      </p:sp>
      <p:sp>
        <p:nvSpPr>
          <p:cNvPr id="6" name="shape-42-236">
            <a:extLst xmlns:a="http://schemas.openxmlformats.org/drawingml/2006/main">
              <a:ext uri="{FF2B5EF4-FFF2-40B4-BE49-F238E27FC236}">
                <a16:creationId xmlns:a16="http://schemas.microsoft.com/office/drawing/2014/main" id="{DBE94AF5-6E95-4D76-85CA-C180A11B2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3581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7" name="text-70-278">
            <a:extLst xmlns:a="http://schemas.openxmlformats.org/drawingml/2006/main">
              <a:ext uri="{FF2B5EF4-FFF2-40B4-BE49-F238E27FC236}">
                <a16:creationId xmlns:a16="http://schemas.microsoft.com/office/drawing/2014/main" id="{7BBF3E21-79CC-4D4E-B668-92CD216E3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6 200</a:t>
            </a:r>
          </a:p>
        </p:txBody>
      </p:sp>
      <p:sp>
        <p:nvSpPr>
          <p:cNvPr id="8" name="text-70-378">
            <a:extLst xmlns:a="http://schemas.openxmlformats.org/drawingml/2006/main">
              <a:ext uri="{FF2B5EF4-FFF2-40B4-BE49-F238E27FC236}">
                <a16:creationId xmlns:a16="http://schemas.microsoft.com/office/drawing/2014/main" id="{DC0AB436-F700-45BD-A9DB-F3BD1CB9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дроп-карт выявлено</a:t>
            </a:r>
          </a:p>
        </p:txBody>
      </p:sp>
      <p:sp>
        <p:nvSpPr>
          <p:cNvPr id="9" name="line-70-476">
            <a:extLst xmlns:a="http://schemas.openxmlformats.org/drawingml/2006/main">
              <a:ext uri="{FF2B5EF4-FFF2-40B4-BE49-F238E27FC236}">
                <a16:creationId xmlns:a16="http://schemas.microsoft.com/office/drawing/2014/main" id="{684D0DA8-B88E-4790-B8C3-DA301BF55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640"/>
            </a:solidFill>
            <a:prstDash val="solid"/>
          </a:ln>
        </p:spPr>
      </p:sp>
      <p:sp>
        <p:nvSpPr>
          <p:cNvPr id="10" name="text-70-499">
            <a:extLst xmlns:a="http://schemas.openxmlformats.org/drawingml/2006/main">
              <a:ext uri="{FF2B5EF4-FFF2-40B4-BE49-F238E27FC236}">
                <a16:creationId xmlns:a16="http://schemas.microsoft.com/office/drawing/2014/main" id="{0C8CBB90-7519-4B60-9C53-BBF3FC5F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52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C8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C8C2"/>
                </a:solidFill>
                <a:latin typeface="Aptos"/>
                <a:ea typeface="Aptos"/>
                <a:cs typeface="Aptos"/>
              </a:rPr>
              <a:t>Казахстан · 2024</a:t>
            </a:r>
          </a:p>
        </p:txBody>
      </p:sp>
      <p:sp>
        <p:nvSpPr>
          <p:cNvPr id="11" name="shape-452-236">
            <a:extLst xmlns:a="http://schemas.openxmlformats.org/drawingml/2006/main">
              <a:ext uri="{FF2B5EF4-FFF2-40B4-BE49-F238E27FC236}">
                <a16:creationId xmlns:a16="http://schemas.microsoft.com/office/drawing/2014/main" id="{C9C1837A-E75F-430E-B52F-AF44A988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247900"/>
            <a:ext cx="3581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64232"/>
          </a:solidFill>
          <a:ln xmlns:a="http://schemas.openxmlformats.org/drawingml/2006/main" w="0">
            <a:solidFill>
              <a:srgbClr val="E64232"/>
            </a:solidFill>
            <a:prstDash val="solid"/>
          </a:ln>
        </p:spPr>
      </p:sp>
      <p:sp>
        <p:nvSpPr>
          <p:cNvPr id="12" name="text-480-278">
            <a:extLst xmlns:a="http://schemas.openxmlformats.org/drawingml/2006/main">
              <a:ext uri="{FF2B5EF4-FFF2-40B4-BE49-F238E27FC236}">
                <a16:creationId xmlns:a16="http://schemas.microsoft.com/office/drawing/2014/main" id="{9DDCC24D-15D8-4E66-B3E1-A76072B39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479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₸24 млрд</a:t>
            </a:r>
          </a:p>
        </p:txBody>
      </p:sp>
      <p:sp>
        <p:nvSpPr>
          <p:cNvPr id="13" name="text-480-378">
            <a:extLst xmlns:a="http://schemas.openxmlformats.org/drawingml/2006/main">
              <a:ext uri="{FF2B5EF4-FFF2-40B4-BE49-F238E27FC236}">
                <a16:creationId xmlns:a16="http://schemas.microsoft.com/office/drawing/2014/main" id="{8561924D-4137-4BD7-950E-9BC339F11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6004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оборот по этим картам</a:t>
            </a:r>
          </a:p>
        </p:txBody>
      </p:sp>
      <p:sp>
        <p:nvSpPr>
          <p:cNvPr id="14" name="line-480-476">
            <a:extLst xmlns:a="http://schemas.openxmlformats.org/drawingml/2006/main">
              <a:ext uri="{FF2B5EF4-FFF2-40B4-BE49-F238E27FC236}">
                <a16:creationId xmlns:a16="http://schemas.microsoft.com/office/drawing/2014/main" id="{5E564A69-7F1E-4882-AD80-A5DD2076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533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28B80"/>
            </a:solidFill>
            <a:prstDash val="solid"/>
          </a:ln>
        </p:spPr>
      </p:sp>
      <p:sp>
        <p:nvSpPr>
          <p:cNvPr id="15" name="text-480-499">
            <a:extLst xmlns:a="http://schemas.openxmlformats.org/drawingml/2006/main">
              <a:ext uri="{FF2B5EF4-FFF2-40B4-BE49-F238E27FC236}">
                <a16:creationId xmlns:a16="http://schemas.microsoft.com/office/drawing/2014/main" id="{465BDA1A-7BA3-42CA-A496-562DD2350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52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E2DE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FFE2DE"/>
                </a:solidFill>
                <a:latin typeface="Aptos"/>
                <a:ea typeface="Aptos"/>
                <a:cs typeface="Aptos"/>
              </a:rPr>
              <a:t>Казахстан · 2024</a:t>
            </a:r>
          </a:p>
        </p:txBody>
      </p:sp>
      <p:sp>
        <p:nvSpPr>
          <p:cNvPr id="16" name="shape-862-236">
            <a:extLst xmlns:a="http://schemas.openxmlformats.org/drawingml/2006/main">
              <a:ext uri="{FF2B5EF4-FFF2-40B4-BE49-F238E27FC236}">
                <a16:creationId xmlns:a16="http://schemas.microsoft.com/office/drawing/2014/main" id="{E36852A2-9527-44A5-B68A-36DF578DE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247900"/>
            <a:ext cx="3581400" cy="31432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17" name="text-890-278">
            <a:extLst xmlns:a="http://schemas.openxmlformats.org/drawingml/2006/main">
              <a:ext uri="{FF2B5EF4-FFF2-40B4-BE49-F238E27FC236}">
                <a16:creationId xmlns:a16="http://schemas.microsoft.com/office/drawing/2014/main" id="{5CEB6F2F-82BD-4269-BB5D-6A31F8BC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647950"/>
            <a:ext cx="3048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&gt;60 000</a:t>
            </a:r>
          </a:p>
        </p:txBody>
      </p:sp>
      <p:sp>
        <p:nvSpPr>
          <p:cNvPr id="18" name="text-890-378">
            <a:extLst xmlns:a="http://schemas.openxmlformats.org/drawingml/2006/main">
              <a:ext uri="{FF2B5EF4-FFF2-40B4-BE49-F238E27FC236}">
                <a16:creationId xmlns:a16="http://schemas.microsoft.com/office/drawing/2014/main" id="{723FDE7E-D361-4FBF-8C88-7F5D55E00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2952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инцидентов за 10 мес.</a:t>
            </a:r>
          </a:p>
        </p:txBody>
      </p:sp>
      <p:sp>
        <p:nvSpPr>
          <p:cNvPr id="19" name="line-890-476">
            <a:extLst xmlns:a="http://schemas.openxmlformats.org/drawingml/2006/main">
              <a:ext uri="{FF2B5EF4-FFF2-40B4-BE49-F238E27FC236}">
                <a16:creationId xmlns:a16="http://schemas.microsoft.com/office/drawing/2014/main" id="{4CF2E2DB-98AF-4A84-84AD-D89807C1A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33900"/>
            <a:ext cx="3048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640"/>
            </a:solidFill>
            <a:prstDash val="solid"/>
          </a:ln>
        </p:spPr>
      </p:sp>
      <p:sp>
        <p:nvSpPr>
          <p:cNvPr id="20" name="text-890-499">
            <a:extLst xmlns:a="http://schemas.openxmlformats.org/drawingml/2006/main">
              <a:ext uri="{FF2B5EF4-FFF2-40B4-BE49-F238E27FC236}">
                <a16:creationId xmlns:a16="http://schemas.microsoft.com/office/drawing/2014/main" id="{002D7C7D-7F8B-4AC3-93AF-876A05F2A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752975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C7C8C2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C7C8C2"/>
                </a:solidFill>
                <a:latin typeface="Aptos"/>
                <a:ea typeface="Aptos"/>
                <a:cs typeface="Aptos"/>
              </a:rPr>
              <a:t>Антифрод-центр НБК</a:t>
            </a:r>
          </a:p>
        </p:txBody>
      </p:sp>
      <p:sp>
        <p:nvSpPr>
          <p:cNvPr id="21" name="text-42-616">
            <a:extLst xmlns:a="http://schemas.openxmlformats.org/drawingml/2006/main">
              <a:ext uri="{FF2B5EF4-FFF2-40B4-BE49-F238E27FC236}">
                <a16:creationId xmlns:a16="http://schemas.microsoft.com/office/drawing/2014/main" id="{150A38CE-5F27-4F8B-84D4-8C393AD5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076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Соискатель видит работу. Банк видит риск только после перевода.</a:t>
            </a:r>
          </a:p>
        </p:txBody>
      </p:sp>
    </p:spTree>
    <p:extLst>
      <p:ext uri="{BB962C8B-B14F-4D97-AF65-F5344CB8AC3E}">
        <p14:creationId xmlns:p14="http://schemas.microsoft.com/office/powerpoint/2010/main" val="471935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ext-42-28">
            <a:extLst xmlns:a="http://schemas.openxmlformats.org/drawingml/2006/main">
              <a:ext uri="{FF2B5EF4-FFF2-40B4-BE49-F238E27FC236}">
                <a16:creationId xmlns:a16="http://schemas.microsoft.com/office/drawing/2014/main" id="{50C88F37-E62C-462F-8999-E323D97CF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6CCE3D82-C3E5-41AE-AD5A-ED62B8A9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NOVAHACK · 03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883A12DF-E4BE-4A92-8EC0-C036B5603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4" name="text-42-91">
            <a:extLst xmlns:a="http://schemas.openxmlformats.org/drawingml/2006/main">
              <a:ext uri="{FF2B5EF4-FFF2-40B4-BE49-F238E27FC236}">
                <a16:creationId xmlns:a16="http://schemas.microsoft.com/office/drawing/2014/main" id="{39A68850-8A40-42DB-B451-A932C9E6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0668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34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Qaqpan проверяет сообщение до перевода.</a:t>
            </a:r>
          </a:p>
        </p:txBody>
      </p:sp>
      <p:sp>
        <p:nvSpPr>
          <p:cNvPr id="5" name="text-42-164">
            <a:extLst xmlns:a="http://schemas.openxmlformats.org/drawingml/2006/main">
              <a:ext uri="{FF2B5EF4-FFF2-40B4-BE49-F238E27FC236}">
                <a16:creationId xmlns:a16="http://schemas.microsoft.com/office/drawing/2014/main" id="{F27DC9B6-A198-44F9-ACBD-B09E14079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962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Человек ещё может отказаться и сохранить доступ к счёту.</a:t>
            </a:r>
          </a:p>
        </p:txBody>
      </p:sp>
      <p:sp>
        <p:nvSpPr>
          <p:cNvPr id="6" name="line-94-348">
            <a:extLst xmlns:a="http://schemas.openxmlformats.org/drawingml/2006/main">
              <a:ext uri="{FF2B5EF4-FFF2-40B4-BE49-F238E27FC236}">
                <a16:creationId xmlns:a16="http://schemas.microsoft.com/office/drawing/2014/main" id="{E71E8BFD-E76E-4534-855C-E7AF4B7AB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028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0110F"/>
            </a:solidFill>
            <a:prstDash val="solid"/>
          </a:ln>
        </p:spPr>
      </p:sp>
      <p:sp>
        <p:nvSpPr>
          <p:cNvPr id="7" name="shape-42-255">
            <a:extLst xmlns:a="http://schemas.openxmlformats.org/drawingml/2006/main">
              <a:ext uri="{FF2B5EF4-FFF2-40B4-BE49-F238E27FC236}">
                <a16:creationId xmlns:a16="http://schemas.microsoft.com/office/drawing/2014/main" id="{D6CAC475-69D9-41DE-9097-284798B7E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E64232"/>
          </a:solidFill>
          <a:ln xmlns:a="http://schemas.openxmlformats.org/drawingml/2006/main" w="9525">
            <a:solidFill>
              <a:srgbClr val="E64232"/>
            </a:solidFill>
            <a:prstDash val="solid"/>
          </a:ln>
        </p:spPr>
      </p:sp>
      <p:sp>
        <p:nvSpPr>
          <p:cNvPr id="8" name="text-64-278">
            <a:extLst xmlns:a="http://schemas.openxmlformats.org/drawingml/2006/main">
              <a:ext uri="{FF2B5EF4-FFF2-40B4-BE49-F238E27FC236}">
                <a16:creationId xmlns:a16="http://schemas.microsoft.com/office/drawing/2014/main" id="{BC8934A2-4433-446A-8A3F-D6ECA2C0B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-64-322">
            <a:extLst xmlns:a="http://schemas.openxmlformats.org/drawingml/2006/main">
              <a:ext uri="{FF2B5EF4-FFF2-40B4-BE49-F238E27FC236}">
                <a16:creationId xmlns:a16="http://schemas.microsoft.com/office/drawing/2014/main" id="{CE540E9A-E29B-4541-90BA-F104E8B59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Сообщение</a:t>
            </a:r>
          </a:p>
        </p:txBody>
      </p:sp>
      <p:sp>
        <p:nvSpPr>
          <p:cNvPr id="10" name="text-64-384">
            <a:extLst xmlns:a="http://schemas.openxmlformats.org/drawingml/2006/main">
              <a:ext uri="{FF2B5EF4-FFF2-40B4-BE49-F238E27FC236}">
                <a16:creationId xmlns:a16="http://schemas.microsoft.com/office/drawing/2014/main" id="{74FAB48C-CA54-46DA-B090-6DCFA8A4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57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«Лёгкая работа»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в Telegram / WhatsApp</a:t>
            </a:r>
          </a:p>
        </p:txBody>
      </p:sp>
      <p:sp>
        <p:nvSpPr>
          <p:cNvPr id="11" name="shape-342-255">
            <a:extLst xmlns:a="http://schemas.openxmlformats.org/drawingml/2006/main">
              <a:ext uri="{FF2B5EF4-FFF2-40B4-BE49-F238E27FC236}">
                <a16:creationId xmlns:a16="http://schemas.microsoft.com/office/drawing/2014/main" id="{8E0C3FE1-DCC0-44EB-8636-193C9E995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428875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12" name="text-364-278">
            <a:extLst xmlns:a="http://schemas.openxmlformats.org/drawingml/2006/main">
              <a:ext uri="{FF2B5EF4-FFF2-40B4-BE49-F238E27FC236}">
                <a16:creationId xmlns:a16="http://schemas.microsoft.com/office/drawing/2014/main" id="{09735AE5-5C76-415C-89C6-A79492C85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6479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-364-322">
            <a:extLst xmlns:a="http://schemas.openxmlformats.org/drawingml/2006/main">
              <a:ext uri="{FF2B5EF4-FFF2-40B4-BE49-F238E27FC236}">
                <a16:creationId xmlns:a16="http://schemas.microsoft.com/office/drawing/2014/main" id="{6C6E26EB-5929-40C8-B600-A1D3F5AF5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0670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Доступ</a:t>
            </a:r>
          </a:p>
        </p:txBody>
      </p:sp>
      <p:sp>
        <p:nvSpPr>
          <p:cNvPr id="14" name="text-364-384">
            <a:extLst xmlns:a="http://schemas.openxmlformats.org/drawingml/2006/main">
              <a:ext uri="{FF2B5EF4-FFF2-40B4-BE49-F238E27FC236}">
                <a16:creationId xmlns:a16="http://schemas.microsoft.com/office/drawing/2014/main" id="{11ED3A77-20B0-46D0-9D8B-ADEF5F4B0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57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Карта, аккаунт,</a:t>
            </a:r>
          </a:p>
          <a:p xmlns:a="http://schemas.openxmlformats.org/drawingml/2006/main">
            <a:pPr algn="l">
              <a:defRPr sz="135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SMS / PIN / CVV</a:t>
            </a:r>
          </a:p>
        </p:txBody>
      </p:sp>
      <p:sp>
        <p:nvSpPr>
          <p:cNvPr id="15" name="shape-642-255">
            <a:extLst xmlns:a="http://schemas.openxmlformats.org/drawingml/2006/main">
              <a:ext uri="{FF2B5EF4-FFF2-40B4-BE49-F238E27FC236}">
                <a16:creationId xmlns:a16="http://schemas.microsoft.com/office/drawing/2014/main" id="{3531793C-3613-4AC1-9DC6-54996FD1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428875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16" name="text-664-278">
            <a:extLst xmlns:a="http://schemas.openxmlformats.org/drawingml/2006/main">
              <a:ext uri="{FF2B5EF4-FFF2-40B4-BE49-F238E27FC236}">
                <a16:creationId xmlns:a16="http://schemas.microsoft.com/office/drawing/2014/main" id="{B9551717-71DE-4A9D-8C74-C929B5E9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-664-322">
            <a:extLst xmlns:a="http://schemas.openxmlformats.org/drawingml/2006/main">
              <a:ext uri="{FF2B5EF4-FFF2-40B4-BE49-F238E27FC236}">
                <a16:creationId xmlns:a16="http://schemas.microsoft.com/office/drawing/2014/main" id="{7A6B4D5D-F62F-41B2-8C19-7841762F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0670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Перевод</a:t>
            </a:r>
          </a:p>
        </p:txBody>
      </p:sp>
      <p:sp>
        <p:nvSpPr>
          <p:cNvPr id="18" name="text-664-384">
            <a:extLst xmlns:a="http://schemas.openxmlformats.org/drawingml/2006/main">
              <a:ext uri="{FF2B5EF4-FFF2-40B4-BE49-F238E27FC236}">
                <a16:creationId xmlns:a16="http://schemas.microsoft.com/office/drawing/2014/main" id="{F0A2FFD2-0A6B-41BF-BD78-6133B02A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657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Прими → оставь %</a:t>
            </a:r>
          </a:p>
          <a:p xmlns:a="http://schemas.openxmlformats.org/drawingml/2006/main">
            <a:pPr algn="l">
              <a:defRPr sz="135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→ перешли дальше</a:t>
            </a:r>
          </a:p>
        </p:txBody>
      </p:sp>
      <p:sp>
        <p:nvSpPr>
          <p:cNvPr id="19" name="shape-942-255">
            <a:extLst xmlns:a="http://schemas.openxmlformats.org/drawingml/2006/main">
              <a:ext uri="{FF2B5EF4-FFF2-40B4-BE49-F238E27FC236}">
                <a16:creationId xmlns:a16="http://schemas.microsoft.com/office/drawing/2014/main" id="{502895B1-C822-4900-B83D-07A9BEF5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428875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20" name="text-964-278">
            <a:extLst xmlns:a="http://schemas.openxmlformats.org/drawingml/2006/main">
              <a:ext uri="{FF2B5EF4-FFF2-40B4-BE49-F238E27FC236}">
                <a16:creationId xmlns:a16="http://schemas.microsoft.com/office/drawing/2014/main" id="{0860D56A-FDF7-464F-A56D-64240D64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647950"/>
            <a:ext cx="523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text-964-322">
            <a:extLst xmlns:a="http://schemas.openxmlformats.org/drawingml/2006/main">
              <a:ext uri="{FF2B5EF4-FFF2-40B4-BE49-F238E27FC236}">
                <a16:creationId xmlns:a16="http://schemas.microsoft.com/office/drawing/2014/main" id="{320DE55F-349A-41F9-BD95-6F796C10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067050"/>
            <a:ext cx="2000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Антифрод</a:t>
            </a:r>
          </a:p>
        </p:txBody>
      </p:sp>
      <p:sp>
        <p:nvSpPr>
          <p:cNvPr id="22" name="text-964-384">
            <a:extLst xmlns:a="http://schemas.openxmlformats.org/drawingml/2006/main">
              <a:ext uri="{FF2B5EF4-FFF2-40B4-BE49-F238E27FC236}">
                <a16:creationId xmlns:a16="http://schemas.microsoft.com/office/drawing/2014/main" id="{112BFFDF-2DB9-4AD3-A673-567373877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6576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Система замечает</a:t>
            </a:r>
          </a:p>
          <a:p xmlns:a="http://schemas.openxmlformats.org/drawingml/2006/main">
            <a:pPr algn="l">
              <a:defRPr sz="135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денежный след</a:t>
            </a:r>
          </a:p>
        </p:txBody>
      </p:sp>
      <p:sp>
        <p:nvSpPr>
          <p:cNvPr id="23" name="shape-73-528">
            <a:extLst xmlns:a="http://schemas.openxmlformats.org/drawingml/2006/main">
              <a:ext uri="{FF2B5EF4-FFF2-40B4-BE49-F238E27FC236}">
                <a16:creationId xmlns:a16="http://schemas.microsoft.com/office/drawing/2014/main" id="{2FEF41C9-D778-483C-9B52-2ADDD4279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5029200"/>
            <a:ext cx="18669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4232"/>
          </a:solidFill>
          <a:ln xmlns:a="http://schemas.openxmlformats.org/drawingml/2006/main" w="0">
            <a:solidFill>
              <a:srgbClr val="E64232"/>
            </a:solidFill>
            <a:prstDash val="solid"/>
          </a:ln>
        </p:spPr>
      </p:sp>
      <p:sp>
        <p:nvSpPr>
          <p:cNvPr id="24" name="text-85-535">
            <a:extLst xmlns:a="http://schemas.openxmlformats.org/drawingml/2006/main">
              <a:ext uri="{FF2B5EF4-FFF2-40B4-BE49-F238E27FC236}">
                <a16:creationId xmlns:a16="http://schemas.microsoft.com/office/drawing/2014/main" id="{225CDCEC-B483-43B4-A61A-F8F5831E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95875"/>
            <a:ext cx="1638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QAQPAN ЗДЕСЬ</a:t>
            </a:r>
          </a:p>
        </p:txBody>
      </p:sp>
      <p:sp>
        <p:nvSpPr>
          <p:cNvPr id="25" name="shape-956-528">
            <a:extLst xmlns:a="http://schemas.openxmlformats.org/drawingml/2006/main">
              <a:ext uri="{FF2B5EF4-FFF2-40B4-BE49-F238E27FC236}">
                <a16:creationId xmlns:a16="http://schemas.microsoft.com/office/drawing/2014/main" id="{671BC164-C943-4A55-B22A-8C7C5ED0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5029200"/>
            <a:ext cx="21336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26" name="text-968-535">
            <a:extLst xmlns:a="http://schemas.openxmlformats.org/drawingml/2006/main">
              <a:ext uri="{FF2B5EF4-FFF2-40B4-BE49-F238E27FC236}">
                <a16:creationId xmlns:a16="http://schemas.microsoft.com/office/drawing/2014/main" id="{E286A32A-1646-402A-AD57-64E0EFE6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0958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БАНК ЧАЩЕ ЗДЕСЬ</a:t>
            </a:r>
          </a:p>
        </p:txBody>
      </p:sp>
      <p:sp>
        <p:nvSpPr>
          <p:cNvPr id="27" name="text-42-624">
            <a:extLst xmlns:a="http://schemas.openxmlformats.org/drawingml/2006/main">
              <a:ext uri="{FF2B5EF4-FFF2-40B4-BE49-F238E27FC236}">
                <a16:creationId xmlns:a16="http://schemas.microsoft.com/office/drawing/2014/main" id="{CC0D1628-E2B6-4E24-85D3-470137B0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43600"/>
            <a:ext cx="952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Защита начинается до первой операции.</a:t>
            </a:r>
          </a:p>
        </p:txBody>
      </p:sp>
    </p:spTree>
    <p:extLst>
      <p:ext uri="{BB962C8B-B14F-4D97-AF65-F5344CB8AC3E}">
        <p14:creationId xmlns:p14="http://schemas.microsoft.com/office/powerpoint/2010/main" val="14969241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text-42-28">
            <a:extLst xmlns:a="http://schemas.openxmlformats.org/drawingml/2006/main">
              <a:ext uri="{FF2B5EF4-FFF2-40B4-BE49-F238E27FC236}">
                <a16:creationId xmlns:a16="http://schemas.microsoft.com/office/drawing/2014/main" id="{BCB88FCC-F439-45F6-91C8-28E42525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127BB388-6255-4A0B-A255-04EDB89F7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NOVAHACK · 04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4EE18E09-D998-43AE-B52E-C4645E001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4" name="text-42-91">
            <a:extLst xmlns:a="http://schemas.openxmlformats.org/drawingml/2006/main">
              <a:ext uri="{FF2B5EF4-FFF2-40B4-BE49-F238E27FC236}">
                <a16:creationId xmlns:a16="http://schemas.microsoft.com/office/drawing/2014/main" id="{B604ECCF-03DF-4629-A39F-E44E99B4D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Рабочий MVP. Без регистрации и API-ключа.</a:t>
            </a:r>
          </a:p>
        </p:txBody>
      </p:sp>
      <p:sp>
        <p:nvSpPr>
          <p:cNvPr id="5" name="text-42-157">
            <a:extLst xmlns:a="http://schemas.openxmlformats.org/drawingml/2006/main">
              <a:ext uri="{FF2B5EF4-FFF2-40B4-BE49-F238E27FC236}">
                <a16:creationId xmlns:a16="http://schemas.microsoft.com/office/drawing/2014/main" id="{3F19C318-0268-4A05-A1A8-7C69A9CC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990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Вставьте текст или загрузите скриншот. Qaqpan покажет признаки риска.</a:t>
            </a:r>
          </a:p>
        </p:txBody>
      </p:sp>
      <p:sp>
        <p:nvSpPr>
          <p:cNvPr id="6" name="shape-40-218">
            <a:extLst xmlns:a="http://schemas.openxmlformats.org/drawingml/2006/main">
              <a:ext uri="{FF2B5EF4-FFF2-40B4-BE49-F238E27FC236}">
                <a16:creationId xmlns:a16="http://schemas.microsoft.com/office/drawing/2014/main" id="{2111289A-281A-4D33-B393-753396D29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076450"/>
            <a:ext cx="7962900" cy="428625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a3f349d2624cf5"/>
          <a:stretch xmlns:a="http://schemas.openxmlformats.org/drawingml/2006/main"/>
        </p:blipFill>
        <p:spPr>
          <a:xfrm xmlns:a="http://schemas.openxmlformats.org/drawingml/2006/main">
            <a:off x="1116330" y="2190750"/>
            <a:ext cx="6492240" cy="4057650"/>
          </a:xfrm>
          <a:prstGeom xmlns:a="http://schemas.openxmlformats.org/drawingml/2006/main" prst="roundRect">
            <a:avLst>
              <a:gd name="adj" fmla="val 3286"/>
            </a:avLst>
          </a:prstGeom>
        </p:spPr>
      </p:pic>
      <p:sp>
        <p:nvSpPr>
          <p:cNvPr id="8" name="text-914-235">
            <a:extLst xmlns:a="http://schemas.openxmlformats.org/drawingml/2006/main">
              <a:ext uri="{FF2B5EF4-FFF2-40B4-BE49-F238E27FC236}">
                <a16:creationId xmlns:a16="http://schemas.microsoft.com/office/drawing/2014/main" id="{BFA22E49-8BD3-47C4-A5A2-8AEA2DAF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text-964-231">
            <a:extLst xmlns:a="http://schemas.openxmlformats.org/drawingml/2006/main">
              <a:ext uri="{FF2B5EF4-FFF2-40B4-BE49-F238E27FC236}">
                <a16:creationId xmlns:a16="http://schemas.microsoft.com/office/drawing/2014/main" id="{3A1C1FF5-6A6B-4210-829B-BCF8D927E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2002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10" name="text-964-272">
            <a:extLst xmlns:a="http://schemas.openxmlformats.org/drawingml/2006/main">
              <a:ext uri="{FF2B5EF4-FFF2-40B4-BE49-F238E27FC236}">
                <a16:creationId xmlns:a16="http://schemas.microsoft.com/office/drawing/2014/main" id="{8D95DA10-4F0B-4BB5-9937-4C8D34C8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908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Русский + қазақша</a:t>
            </a:r>
          </a:p>
          <a:p xmlns:a="http://schemas.openxmlformats.org/drawingml/2006/main">
            <a:pPr algn="l">
              <a:defRPr sz="127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в браузере</a:t>
            </a:r>
          </a:p>
        </p:txBody>
      </p:sp>
      <p:sp>
        <p:nvSpPr>
          <p:cNvPr id="11" name="line-914-343">
            <a:extLst xmlns:a="http://schemas.openxmlformats.org/drawingml/2006/main">
              <a:ext uri="{FF2B5EF4-FFF2-40B4-BE49-F238E27FC236}">
                <a16:creationId xmlns:a16="http://schemas.microsoft.com/office/drawing/2014/main" id="{FB5881F9-C79A-4896-8440-AAF9AADC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26707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12" name="text-914-373">
            <a:extLst xmlns:a="http://schemas.openxmlformats.org/drawingml/2006/main">
              <a:ext uri="{FF2B5EF4-FFF2-40B4-BE49-F238E27FC236}">
                <a16:creationId xmlns:a16="http://schemas.microsoft.com/office/drawing/2014/main" id="{F9AE0EBA-4436-4286-BC96-229E0ABD9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5282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text-964-369">
            <a:extLst xmlns:a="http://schemas.openxmlformats.org/drawingml/2006/main">
              <a:ext uri="{FF2B5EF4-FFF2-40B4-BE49-F238E27FC236}">
                <a16:creationId xmlns:a16="http://schemas.microsoft.com/office/drawing/2014/main" id="{6D3718B7-3550-4966-B3CD-94BDAD0C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51472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Риск-сигналы</a:t>
            </a:r>
          </a:p>
        </p:txBody>
      </p:sp>
      <p:sp>
        <p:nvSpPr>
          <p:cNvPr id="14" name="text-964-410">
            <a:extLst xmlns:a="http://schemas.openxmlformats.org/drawingml/2006/main">
              <a:ext uri="{FF2B5EF4-FFF2-40B4-BE49-F238E27FC236}">
                <a16:creationId xmlns:a16="http://schemas.microsoft.com/office/drawing/2014/main" id="{B682C9CA-C7C7-4D93-8420-F9AB5406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0525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Карта, проценты,</a:t>
            </a:r>
          </a:p>
          <a:p xmlns:a="http://schemas.openxmlformats.org/drawingml/2006/main">
            <a:pPr algn="l">
              <a:defRPr sz="127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перевод, секретность</a:t>
            </a:r>
          </a:p>
        </p:txBody>
      </p:sp>
      <p:sp>
        <p:nvSpPr>
          <p:cNvPr id="15" name="line-914-481">
            <a:extLst xmlns:a="http://schemas.openxmlformats.org/drawingml/2006/main">
              <a:ext uri="{FF2B5EF4-FFF2-40B4-BE49-F238E27FC236}">
                <a16:creationId xmlns:a16="http://schemas.microsoft.com/office/drawing/2014/main" id="{9283F438-26AB-4317-B259-FC63900D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81525"/>
            <a:ext cx="2952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16" name="text-914-511">
            <a:extLst xmlns:a="http://schemas.openxmlformats.org/drawingml/2006/main">
              <a:ext uri="{FF2B5EF4-FFF2-40B4-BE49-F238E27FC236}">
                <a16:creationId xmlns:a16="http://schemas.microsoft.com/office/drawing/2014/main" id="{E233300F-6CDE-4F8D-B207-B825AB81D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867275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text-964-507">
            <a:extLst xmlns:a="http://schemas.openxmlformats.org/drawingml/2006/main">
              <a:ext uri="{FF2B5EF4-FFF2-40B4-BE49-F238E27FC236}">
                <a16:creationId xmlns:a16="http://schemas.microsoft.com/office/drawing/2014/main" id="{BED8494B-9C3F-4AE4-A6E5-54247D0DE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829175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Безопасный шаг</a:t>
            </a:r>
          </a:p>
        </p:txBody>
      </p:sp>
      <p:sp>
        <p:nvSpPr>
          <p:cNvPr id="18" name="text-964-548">
            <a:extLst xmlns:a="http://schemas.openxmlformats.org/drawingml/2006/main">
              <a:ext uri="{FF2B5EF4-FFF2-40B4-BE49-F238E27FC236}">
                <a16:creationId xmlns:a16="http://schemas.microsoft.com/office/drawing/2014/main" id="{F73018B8-4FE4-4305-972E-47938016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5219700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Что делать до</a:t>
            </a:r>
          </a:p>
          <a:p xmlns:a="http://schemas.openxmlformats.org/drawingml/2006/main">
            <a:pPr algn="l">
              <a:defRPr sz="127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первой операции</a:t>
            </a:r>
          </a:p>
        </p:txBody>
      </p:sp>
      <p:sp>
        <p:nvSpPr>
          <p:cNvPr id="19" name="text-914-635">
            <a:extLst xmlns:a="http://schemas.openxmlformats.org/drawingml/2006/main">
              <a:ext uri="{FF2B5EF4-FFF2-40B4-BE49-F238E27FC236}">
                <a16:creationId xmlns:a16="http://schemas.microsoft.com/office/drawing/2014/main" id="{1F9695BC-AD86-4428-8D1E-8FE44F37A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6048375"/>
            <a:ext cx="295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896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LIVE · qaqpan-232.osprey-shed6h9b8p81a.Qaqpan.site</a:t>
            </a:r>
          </a:p>
        </p:txBody>
      </p:sp>
    </p:spTree>
    <p:extLst>
      <p:ext uri="{BB962C8B-B14F-4D97-AF65-F5344CB8AC3E}">
        <p14:creationId xmlns:p14="http://schemas.microsoft.com/office/powerpoint/2010/main" val="197868102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ext-42-28">
            <a:extLst xmlns:a="http://schemas.openxmlformats.org/drawingml/2006/main">
              <a:ext uri="{FF2B5EF4-FFF2-40B4-BE49-F238E27FC236}">
                <a16:creationId xmlns:a16="http://schemas.microsoft.com/office/drawing/2014/main" id="{B7643559-0126-4F12-AC0D-5E3A92DDF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164E18AE-9EFE-4F4E-B6C0-323B0FFD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NOVAHACK · 05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9E242387-29E1-476A-B147-2F86C9374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4" name="text-42-91">
            <a:extLst xmlns:a="http://schemas.openxmlformats.org/drawingml/2006/main">
              <a:ext uri="{FF2B5EF4-FFF2-40B4-BE49-F238E27FC236}">
                <a16:creationId xmlns:a16="http://schemas.microsoft.com/office/drawing/2014/main" id="{B2F4A2F0-4140-4194-8131-1E69BD489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04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Пользователь видит причину, а не только число.</a:t>
            </a:r>
          </a:p>
        </p:txBody>
      </p:sp>
      <p:sp>
        <p:nvSpPr>
          <p:cNvPr id="5" name="text-42-157">
            <a:extLst xmlns:a="http://schemas.openxmlformats.org/drawingml/2006/main">
              <a:ext uri="{FF2B5EF4-FFF2-40B4-BE49-F238E27FC236}">
                <a16:creationId xmlns:a16="http://schemas.microsoft.com/office/drawing/2014/main" id="{F4A29824-01D6-40C7-8C77-57619A3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95425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Qaqpan показывает подозрительную фразу, схему и безопасный следующий шаг.</a:t>
            </a:r>
          </a:p>
        </p:txBody>
      </p:sp>
      <p:sp>
        <p:nvSpPr>
          <p:cNvPr id="6" name="shape-42-236">
            <a:extLst xmlns:a="http://schemas.openxmlformats.org/drawingml/2006/main">
              <a:ext uri="{FF2B5EF4-FFF2-40B4-BE49-F238E27FC236}">
                <a16:creationId xmlns:a16="http://schemas.microsoft.com/office/drawing/2014/main" id="{B0EBF9A8-DBE4-4CE5-9E84-25BA5468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7" name="shape-62-258">
            <a:extLst xmlns:a="http://schemas.openxmlformats.org/drawingml/2006/main">
              <a:ext uri="{FF2B5EF4-FFF2-40B4-BE49-F238E27FC236}">
                <a16:creationId xmlns:a16="http://schemas.microsoft.com/office/drawing/2014/main" id="{2D63F8D1-0540-4B3C-85FC-3B3ABF369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457450"/>
            <a:ext cx="971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8" name="text-74-265">
            <a:extLst xmlns:a="http://schemas.openxmlformats.org/drawingml/2006/main">
              <a:ext uri="{FF2B5EF4-FFF2-40B4-BE49-F238E27FC236}">
                <a16:creationId xmlns:a16="http://schemas.microsoft.com/office/drawing/2014/main" id="{D3898DE6-7EBA-4085-BFBA-116EC8ADA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241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9" name="text-62-319">
            <a:extLst xmlns:a="http://schemas.openxmlformats.org/drawingml/2006/main">
              <a:ext uri="{FF2B5EF4-FFF2-40B4-BE49-F238E27FC236}">
                <a16:creationId xmlns:a16="http://schemas.microsoft.com/office/drawing/2014/main" id="{8BED3AB2-F2EB-4731-8202-F8276D24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Вход</a:t>
            </a:r>
          </a:p>
        </p:txBody>
      </p:sp>
      <p:sp>
        <p:nvSpPr>
          <p:cNvPr id="10" name="text-62-380">
            <a:extLst xmlns:a="http://schemas.openxmlformats.org/drawingml/2006/main">
              <a:ext uri="{FF2B5EF4-FFF2-40B4-BE49-F238E27FC236}">
                <a16:creationId xmlns:a16="http://schemas.microsoft.com/office/drawing/2014/main" id="{C039F2C0-6712-4066-984C-20B4D623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Текст или</a:t>
            </a:r>
          </a:p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скриншот</a:t>
            </a:r>
          </a:p>
        </p:txBody>
      </p:sp>
      <p:sp>
        <p:nvSpPr>
          <p:cNvPr id="11" name="shape-342-236">
            <a:extLst xmlns:a="http://schemas.openxmlformats.org/drawingml/2006/main">
              <a:ext uri="{FF2B5EF4-FFF2-40B4-BE49-F238E27FC236}">
                <a16:creationId xmlns:a16="http://schemas.microsoft.com/office/drawing/2014/main" id="{B0F417ED-766E-44AC-A2A0-51707CAA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247900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9525">
            <a:solidFill>
              <a:srgbClr val="10110F"/>
            </a:solidFill>
            <a:prstDash val="solid"/>
          </a:ln>
        </p:spPr>
      </p:sp>
      <p:sp>
        <p:nvSpPr>
          <p:cNvPr id="12" name="shape-362-258">
            <a:extLst xmlns:a="http://schemas.openxmlformats.org/drawingml/2006/main">
              <a:ext uri="{FF2B5EF4-FFF2-40B4-BE49-F238E27FC236}">
                <a16:creationId xmlns:a16="http://schemas.microsoft.com/office/drawing/2014/main" id="{B377C848-F228-4C23-AE08-94948045E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457450"/>
            <a:ext cx="971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64232"/>
          </a:solidFill>
          <a:ln xmlns:a="http://schemas.openxmlformats.org/drawingml/2006/main" w="0">
            <a:solidFill>
              <a:srgbClr val="E64232"/>
            </a:solidFill>
            <a:prstDash val="solid"/>
          </a:ln>
        </p:spPr>
      </p:sp>
      <p:sp>
        <p:nvSpPr>
          <p:cNvPr id="13" name="text-374-265">
            <a:extLst xmlns:a="http://schemas.openxmlformats.org/drawingml/2006/main">
              <a:ext uri="{FF2B5EF4-FFF2-40B4-BE49-F238E27FC236}">
                <a16:creationId xmlns:a16="http://schemas.microsoft.com/office/drawing/2014/main" id="{4D91B1A3-AA75-4B87-A15D-69BFD0E5A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241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14" name="text-362-319">
            <a:extLst xmlns:a="http://schemas.openxmlformats.org/drawingml/2006/main">
              <a:ext uri="{FF2B5EF4-FFF2-40B4-BE49-F238E27FC236}">
                <a16:creationId xmlns:a16="http://schemas.microsoft.com/office/drawing/2014/main" id="{FBA632B8-CAA7-4C0E-9F31-54128D45C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384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Улики</a:t>
            </a:r>
          </a:p>
        </p:txBody>
      </p:sp>
      <p:sp>
        <p:nvSpPr>
          <p:cNvPr id="15" name="text-362-380">
            <a:extLst xmlns:a="http://schemas.openxmlformats.org/drawingml/2006/main">
              <a:ext uri="{FF2B5EF4-FFF2-40B4-BE49-F238E27FC236}">
                <a16:creationId xmlns:a16="http://schemas.microsoft.com/office/drawing/2014/main" id="{96668CE9-E837-4DB5-8BD4-F406859F0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19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7D7D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7D1"/>
                </a:solidFill>
                <a:latin typeface="Aptos"/>
                <a:ea typeface="Aptos"/>
                <a:cs typeface="Aptos"/>
              </a:rPr>
              <a:t>Фразы риска</a:t>
            </a:r>
          </a:p>
          <a:p xmlns:a="http://schemas.openxmlformats.org/drawingml/2006/main">
            <a:pPr algn="l">
              <a:defRPr sz="1500" b="0">
                <a:solidFill>
                  <a:srgbClr val="D7D7D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7D7D1"/>
                </a:solidFill>
                <a:latin typeface="Aptos"/>
                <a:ea typeface="Aptos"/>
                <a:cs typeface="Aptos"/>
              </a:rPr>
              <a:t>подсвечены</a:t>
            </a:r>
          </a:p>
        </p:txBody>
      </p:sp>
      <p:sp>
        <p:nvSpPr>
          <p:cNvPr id="16" name="shape-642-236">
            <a:extLst xmlns:a="http://schemas.openxmlformats.org/drawingml/2006/main">
              <a:ext uri="{FF2B5EF4-FFF2-40B4-BE49-F238E27FC236}">
                <a16:creationId xmlns:a16="http://schemas.microsoft.com/office/drawing/2014/main" id="{5820FDDC-B5FB-475C-A4CD-3952DB5DB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247900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17" name="shape-662-258">
            <a:extLst xmlns:a="http://schemas.openxmlformats.org/drawingml/2006/main">
              <a:ext uri="{FF2B5EF4-FFF2-40B4-BE49-F238E27FC236}">
                <a16:creationId xmlns:a16="http://schemas.microsoft.com/office/drawing/2014/main" id="{4419F813-5B04-4A64-B60D-ACA8B354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57450"/>
            <a:ext cx="971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18" name="text-674-265">
            <a:extLst xmlns:a="http://schemas.openxmlformats.org/drawingml/2006/main">
              <a:ext uri="{FF2B5EF4-FFF2-40B4-BE49-F238E27FC236}">
                <a16:creationId xmlns:a16="http://schemas.microsoft.com/office/drawing/2014/main" id="{B93E01AC-9039-4853-9145-D708E6905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241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FLOW</a:t>
            </a:r>
          </a:p>
        </p:txBody>
      </p:sp>
      <p:sp>
        <p:nvSpPr>
          <p:cNvPr id="19" name="text-662-319">
            <a:extLst xmlns:a="http://schemas.openxmlformats.org/drawingml/2006/main">
              <a:ext uri="{FF2B5EF4-FFF2-40B4-BE49-F238E27FC236}">
                <a16:creationId xmlns:a16="http://schemas.microsoft.com/office/drawing/2014/main" id="{84E5864B-496C-471F-B850-2C5CCB27A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0384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Схема</a:t>
            </a:r>
          </a:p>
        </p:txBody>
      </p:sp>
      <p:sp>
        <p:nvSpPr>
          <p:cNvPr id="20" name="text-662-380">
            <a:extLst xmlns:a="http://schemas.openxmlformats.org/drawingml/2006/main">
              <a:ext uri="{FF2B5EF4-FFF2-40B4-BE49-F238E27FC236}">
                <a16:creationId xmlns:a16="http://schemas.microsoft.com/office/drawing/2014/main" id="{24AD1185-FC34-4CB6-939E-9CAAD53D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619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Ты → деньги</a:t>
            </a:r>
          </a:p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→ координатор</a:t>
            </a:r>
          </a:p>
        </p:txBody>
      </p:sp>
      <p:sp>
        <p:nvSpPr>
          <p:cNvPr id="21" name="shape-942-236">
            <a:extLst xmlns:a="http://schemas.openxmlformats.org/drawingml/2006/main">
              <a:ext uri="{FF2B5EF4-FFF2-40B4-BE49-F238E27FC236}">
                <a16:creationId xmlns:a16="http://schemas.microsoft.com/office/drawing/2014/main" id="{A8721754-80CB-4165-A20B-7E3343446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247900"/>
            <a:ext cx="2438400" cy="2381250"/>
          </a:xfrm>
          <a:prstGeom xmlns:a="http://schemas.openxmlformats.org/drawingml/2006/main" prst="roundRect">
            <a:avLst>
              <a:gd name="adj" fmla="val 7200"/>
            </a:avLst>
          </a:prstGeom>
          <a:solidFill xmlns:a="http://schemas.openxmlformats.org/drawingml/2006/main">
            <a:srgbClr val="FBFAF5"/>
          </a:solidFill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22" name="shape-962-258">
            <a:extLst xmlns:a="http://schemas.openxmlformats.org/drawingml/2006/main">
              <a:ext uri="{FF2B5EF4-FFF2-40B4-BE49-F238E27FC236}">
                <a16:creationId xmlns:a16="http://schemas.microsoft.com/office/drawing/2014/main" id="{8CC8AB78-FE17-41A4-8485-EB4DD430D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57450"/>
            <a:ext cx="9715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23" name="text-974-265">
            <a:extLst xmlns:a="http://schemas.openxmlformats.org/drawingml/2006/main">
              <a:ext uri="{FF2B5EF4-FFF2-40B4-BE49-F238E27FC236}">
                <a16:creationId xmlns:a16="http://schemas.microsoft.com/office/drawing/2014/main" id="{C7D32372-ECC0-4627-9782-EF345100D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524125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NEXT</a:t>
            </a:r>
          </a:p>
        </p:txBody>
      </p:sp>
      <p:sp>
        <p:nvSpPr>
          <p:cNvPr id="24" name="text-962-319">
            <a:extLst xmlns:a="http://schemas.openxmlformats.org/drawingml/2006/main">
              <a:ext uri="{FF2B5EF4-FFF2-40B4-BE49-F238E27FC236}">
                <a16:creationId xmlns:a16="http://schemas.microsoft.com/office/drawing/2014/main" id="{13CAC606-FBA5-439E-8AF3-6E8468273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038475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Действие</a:t>
            </a:r>
          </a:p>
        </p:txBody>
      </p:sp>
      <p:sp>
        <p:nvSpPr>
          <p:cNvPr id="25" name="text-962-380">
            <a:extLst xmlns:a="http://schemas.openxmlformats.org/drawingml/2006/main">
              <a:ext uri="{FF2B5EF4-FFF2-40B4-BE49-F238E27FC236}">
                <a16:creationId xmlns:a16="http://schemas.microsoft.com/office/drawing/2014/main" id="{2C663D19-AC29-45BA-A1B8-ACFF5F95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61950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Не делиться.</a:t>
            </a:r>
          </a:p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Банк / 102</a:t>
            </a:r>
          </a:p>
        </p:txBody>
      </p:sp>
      <p:sp>
        <p:nvSpPr>
          <p:cNvPr id="26" name="shape-42-536">
            <a:extLst xmlns:a="http://schemas.openxmlformats.org/drawingml/2006/main">
              <a:ext uri="{FF2B5EF4-FFF2-40B4-BE49-F238E27FC236}">
                <a16:creationId xmlns:a16="http://schemas.microsoft.com/office/drawing/2014/main" id="{FEC08718-6060-4EAB-9B97-E5D7B7ED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110109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27" name="text-72-565">
            <a:extLst xmlns:a="http://schemas.openxmlformats.org/drawingml/2006/main">
              <a:ext uri="{FF2B5EF4-FFF2-40B4-BE49-F238E27FC236}">
                <a16:creationId xmlns:a16="http://schemas.microsoft.com/office/drawing/2014/main" id="{C775B3E6-668A-4F97-B337-343C2155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5B6A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5B6AF"/>
                </a:solidFill>
                <a:latin typeface="Aptos"/>
                <a:ea typeface="Aptos"/>
                <a:cs typeface="Aptos"/>
              </a:rPr>
              <a:t>НЕЗНАКОМЕЦ</a:t>
            </a:r>
          </a:p>
        </p:txBody>
      </p:sp>
      <p:sp>
        <p:nvSpPr>
          <p:cNvPr id="28" name="text-276-555">
            <a:extLst xmlns:a="http://schemas.openxmlformats.org/drawingml/2006/main">
              <a:ext uri="{FF2B5EF4-FFF2-40B4-BE49-F238E27FC236}">
                <a16:creationId xmlns:a16="http://schemas.microsoft.com/office/drawing/2014/main" id="{F480189C-8BA6-436F-8295-8D4CD033A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28637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9" name="text-354-565">
            <a:extLst xmlns:a="http://schemas.openxmlformats.org/drawingml/2006/main">
              <a:ext uri="{FF2B5EF4-FFF2-40B4-BE49-F238E27FC236}">
                <a16:creationId xmlns:a16="http://schemas.microsoft.com/office/drawing/2014/main" id="{784D1302-B085-4E10-B765-74494A0D1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381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ТВОЯ КАРТА</a:t>
            </a:r>
          </a:p>
        </p:txBody>
      </p:sp>
      <p:sp>
        <p:nvSpPr>
          <p:cNvPr id="30" name="text-552-555">
            <a:extLst xmlns:a="http://schemas.openxmlformats.org/drawingml/2006/main">
              <a:ext uri="{FF2B5EF4-FFF2-40B4-BE49-F238E27FC236}">
                <a16:creationId xmlns:a16="http://schemas.microsoft.com/office/drawing/2014/main" id="{5ED97E16-2B06-4497-8A60-8B597EB87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8637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1" name="text-632-565">
            <a:extLst xmlns:a="http://schemas.openxmlformats.org/drawingml/2006/main">
              <a:ext uri="{FF2B5EF4-FFF2-40B4-BE49-F238E27FC236}">
                <a16:creationId xmlns:a16="http://schemas.microsoft.com/office/drawing/2014/main" id="{68927881-2AFA-4FDC-BBC8-BBCADBF92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381625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ЧУЖИЕ ДЕНЬГИ</a:t>
            </a:r>
          </a:p>
        </p:txBody>
      </p:sp>
      <p:sp>
        <p:nvSpPr>
          <p:cNvPr id="32" name="text-830-555">
            <a:extLst xmlns:a="http://schemas.openxmlformats.org/drawingml/2006/main">
              <a:ext uri="{FF2B5EF4-FFF2-40B4-BE49-F238E27FC236}">
                <a16:creationId xmlns:a16="http://schemas.microsoft.com/office/drawing/2014/main" id="{DCEA6B4F-676D-475B-9B06-22925FD96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8637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3" name="text-906-565">
            <a:extLst xmlns:a="http://schemas.openxmlformats.org/drawingml/2006/main">
              <a:ext uri="{FF2B5EF4-FFF2-40B4-BE49-F238E27FC236}">
                <a16:creationId xmlns:a16="http://schemas.microsoft.com/office/drawing/2014/main" id="{3D0C7C84-4957-4321-962E-B58A114F9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5381625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СЛЕД НА ТЕБЕ</a:t>
            </a:r>
          </a:p>
        </p:txBody>
      </p:sp>
    </p:spTree>
    <p:extLst>
      <p:ext uri="{BB962C8B-B14F-4D97-AF65-F5344CB8AC3E}">
        <p14:creationId xmlns:p14="http://schemas.microsoft.com/office/powerpoint/2010/main" val="1930483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0110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8">
            <a:extLst xmlns:a="http://schemas.openxmlformats.org/drawingml/2006/main">
              <a:ext uri="{FF2B5EF4-FFF2-40B4-BE49-F238E27FC236}">
                <a16:creationId xmlns:a16="http://schemas.microsoft.com/office/drawing/2014/main" id="{69BA338A-F3F6-4B3F-BE18-25B3C720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D64BA569-E38A-41EE-B755-1CDCBDD26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NOVAHACK · 06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7A14398C-1F21-4514-86A7-4BE521B58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D3E39"/>
            </a:solidFill>
            <a:prstDash val="solid"/>
          </a:ln>
        </p:spPr>
      </p:sp>
      <p:sp>
        <p:nvSpPr>
          <p:cNvPr id="4" name="text-42-91">
            <a:extLst xmlns:a="http://schemas.openxmlformats.org/drawingml/2006/main">
              <a:ext uri="{FF2B5EF4-FFF2-40B4-BE49-F238E27FC236}">
                <a16:creationId xmlns:a16="http://schemas.microsoft.com/office/drawing/2014/main" id="{37A27880-6EC0-4713-80DE-BEB87745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047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3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33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Модель работает прямо в браузере.</a:t>
            </a:r>
          </a:p>
        </p:txBody>
      </p:sp>
      <p:sp>
        <p:nvSpPr>
          <p:cNvPr id="5" name="text-42-158">
            <a:extLst xmlns:a="http://schemas.openxmlformats.org/drawingml/2006/main">
              <a:ext uri="{FF2B5EF4-FFF2-40B4-BE49-F238E27FC236}">
                <a16:creationId xmlns:a16="http://schemas.microsoft.com/office/drawing/2014/main" id="{FB1C0BCE-1DD4-4A8E-9D55-91782AA78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049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B5B6A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B5B6AF"/>
                </a:solidFill>
                <a:latin typeface="Aptos"/>
                <a:ea typeface="Aptos"/>
                <a:cs typeface="Aptos"/>
              </a:rPr>
              <a:t>ML-модель оценивает текст, а правила объясняют найденный риск.</a:t>
            </a:r>
          </a:p>
        </p:txBody>
      </p:sp>
      <p:sp>
        <p:nvSpPr>
          <p:cNvPr id="6" name="line-140-338">
            <a:extLst xmlns:a="http://schemas.openxmlformats.org/drawingml/2006/main">
              <a:ext uri="{FF2B5EF4-FFF2-40B4-BE49-F238E27FC236}">
                <a16:creationId xmlns:a16="http://schemas.microsoft.com/office/drawing/2014/main" id="{AEB2DBF8-FEC3-4259-A4B8-F458AB436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219450"/>
            <a:ext cx="94773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64232"/>
            </a:solidFill>
            <a:prstDash val="solid"/>
          </a:ln>
        </p:spPr>
      </p:sp>
      <p:sp>
        <p:nvSpPr>
          <p:cNvPr id="7" name="shape-42-238">
            <a:extLst xmlns:a="http://schemas.openxmlformats.org/drawingml/2006/main">
              <a:ext uri="{FF2B5EF4-FFF2-40B4-BE49-F238E27FC236}">
                <a16:creationId xmlns:a16="http://schemas.microsoft.com/office/drawing/2014/main" id="{924650E6-CA6B-4605-866A-A0EF51097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66950"/>
            <a:ext cx="1962150" cy="22669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C1D1A"/>
          </a:solidFill>
          <a:ln xmlns:a="http://schemas.openxmlformats.org/drawingml/2006/main" w="9525">
            <a:solidFill>
              <a:srgbClr val="3A3B36"/>
            </a:solidFill>
            <a:prstDash val="solid"/>
          </a:ln>
        </p:spPr>
      </p:sp>
      <p:sp>
        <p:nvSpPr>
          <p:cNvPr id="8" name="text-60-266">
            <a:extLst xmlns:a="http://schemas.openxmlformats.org/drawingml/2006/main">
              <a:ext uri="{FF2B5EF4-FFF2-40B4-BE49-F238E27FC236}">
                <a16:creationId xmlns:a16="http://schemas.microsoft.com/office/drawing/2014/main" id="{30D2E6F9-0B5E-40F3-8218-CEE8AD67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533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01 · OCR</a:t>
            </a:r>
          </a:p>
        </p:txBody>
      </p:sp>
      <p:sp>
        <p:nvSpPr>
          <p:cNvPr id="9" name="text-60-330">
            <a:extLst xmlns:a="http://schemas.openxmlformats.org/drawingml/2006/main">
              <a:ext uri="{FF2B5EF4-FFF2-40B4-BE49-F238E27FC236}">
                <a16:creationId xmlns:a16="http://schemas.microsoft.com/office/drawing/2014/main" id="{91CD740C-709A-4714-859E-E086D38D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1432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Tesseract.js</a:t>
            </a:r>
          </a:p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rus + kaz</a:t>
            </a:r>
          </a:p>
        </p:txBody>
      </p:sp>
      <p:sp>
        <p:nvSpPr>
          <p:cNvPr id="10" name="shape-278-238">
            <a:extLst xmlns:a="http://schemas.openxmlformats.org/drawingml/2006/main">
              <a:ext uri="{FF2B5EF4-FFF2-40B4-BE49-F238E27FC236}">
                <a16:creationId xmlns:a16="http://schemas.microsoft.com/office/drawing/2014/main" id="{0FA410A1-37EC-4893-BCA5-C38358FD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66950"/>
            <a:ext cx="1962150" cy="22669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C1D1A"/>
          </a:solidFill>
          <a:ln xmlns:a="http://schemas.openxmlformats.org/drawingml/2006/main" w="9525">
            <a:solidFill>
              <a:srgbClr val="3A3B36"/>
            </a:solidFill>
            <a:prstDash val="solid"/>
          </a:ln>
        </p:spPr>
      </p:sp>
      <p:sp>
        <p:nvSpPr>
          <p:cNvPr id="11" name="text-296-266">
            <a:extLst xmlns:a="http://schemas.openxmlformats.org/drawingml/2006/main">
              <a:ext uri="{FF2B5EF4-FFF2-40B4-BE49-F238E27FC236}">
                <a16:creationId xmlns:a16="http://schemas.microsoft.com/office/drawing/2014/main" id="{A13E37BC-FD0F-4112-AEEC-FA79EFA5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533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02 · TF-IDF</a:t>
            </a:r>
          </a:p>
        </p:txBody>
      </p:sp>
      <p:sp>
        <p:nvSpPr>
          <p:cNvPr id="12" name="text-296-330">
            <a:extLst xmlns:a="http://schemas.openxmlformats.org/drawingml/2006/main">
              <a:ext uri="{FF2B5EF4-FFF2-40B4-BE49-F238E27FC236}">
                <a16:creationId xmlns:a16="http://schemas.microsoft.com/office/drawing/2014/main" id="{61B2674E-A718-49A5-8FAC-F81BE169F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432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символьные</a:t>
            </a:r>
          </a:p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3–5-граммы</a:t>
            </a:r>
          </a:p>
        </p:txBody>
      </p:sp>
      <p:sp>
        <p:nvSpPr>
          <p:cNvPr id="13" name="shape-514-238">
            <a:extLst xmlns:a="http://schemas.openxmlformats.org/drawingml/2006/main">
              <a:ext uri="{FF2B5EF4-FFF2-40B4-BE49-F238E27FC236}">
                <a16:creationId xmlns:a16="http://schemas.microsoft.com/office/drawing/2014/main" id="{202F9293-6930-43CE-87FE-6C7CE89B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66950"/>
            <a:ext cx="1962150" cy="22669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C1D1A"/>
          </a:solidFill>
          <a:ln xmlns:a="http://schemas.openxmlformats.org/drawingml/2006/main" w="9525">
            <a:solidFill>
              <a:srgbClr val="3A3B36"/>
            </a:solidFill>
            <a:prstDash val="solid"/>
          </a:ln>
        </p:spPr>
      </p:sp>
      <p:sp>
        <p:nvSpPr>
          <p:cNvPr id="14" name="text-532-266">
            <a:extLst xmlns:a="http://schemas.openxmlformats.org/drawingml/2006/main">
              <a:ext uri="{FF2B5EF4-FFF2-40B4-BE49-F238E27FC236}">
                <a16:creationId xmlns:a16="http://schemas.microsoft.com/office/drawing/2014/main" id="{9B5FCCBF-505D-47D5-8287-7E3CC80BE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533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03 · LR</a:t>
            </a:r>
          </a:p>
        </p:txBody>
      </p:sp>
      <p:sp>
        <p:nvSpPr>
          <p:cNvPr id="15" name="text-532-330">
            <a:extLst xmlns:a="http://schemas.openxmlformats.org/drawingml/2006/main">
              <a:ext uri="{FF2B5EF4-FFF2-40B4-BE49-F238E27FC236}">
                <a16:creationId xmlns:a16="http://schemas.microsoft.com/office/drawing/2014/main" id="{6151A763-669B-4CD0-99C5-BF72690E8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1432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экспорт весов</a:t>
            </a:r>
          </a:p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в model.json</a:t>
            </a:r>
          </a:p>
        </p:txBody>
      </p:sp>
      <p:sp>
        <p:nvSpPr>
          <p:cNvPr id="16" name="shape-750-238">
            <a:extLst xmlns:a="http://schemas.openxmlformats.org/drawingml/2006/main">
              <a:ext uri="{FF2B5EF4-FFF2-40B4-BE49-F238E27FC236}">
                <a16:creationId xmlns:a16="http://schemas.microsoft.com/office/drawing/2014/main" id="{4345AB5F-A4E0-4157-AB8E-F4AFC1959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266950"/>
            <a:ext cx="1962150" cy="22669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1C1D1A"/>
          </a:solidFill>
          <a:ln xmlns:a="http://schemas.openxmlformats.org/drawingml/2006/main" w="9525">
            <a:solidFill>
              <a:srgbClr val="3A3B36"/>
            </a:solidFill>
            <a:prstDash val="solid"/>
          </a:ln>
        </p:spPr>
      </p:sp>
      <p:sp>
        <p:nvSpPr>
          <p:cNvPr id="17" name="text-768-266">
            <a:extLst xmlns:a="http://schemas.openxmlformats.org/drawingml/2006/main">
              <a:ext uri="{FF2B5EF4-FFF2-40B4-BE49-F238E27FC236}">
                <a16:creationId xmlns:a16="http://schemas.microsoft.com/office/drawing/2014/main" id="{34FD2566-017B-47CC-AAE1-85F66E93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533650"/>
            <a:ext cx="1619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04 · Сигналы</a:t>
            </a:r>
          </a:p>
        </p:txBody>
      </p:sp>
      <p:sp>
        <p:nvSpPr>
          <p:cNvPr id="18" name="text-768-330">
            <a:extLst xmlns:a="http://schemas.openxmlformats.org/drawingml/2006/main">
              <a:ext uri="{FF2B5EF4-FFF2-40B4-BE49-F238E27FC236}">
                <a16:creationId xmlns:a16="http://schemas.microsoft.com/office/drawing/2014/main" id="{2F91048D-A9E7-401A-84ED-0BED5A079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43250"/>
            <a:ext cx="1619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официальные</a:t>
            </a:r>
          </a:p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паттерны риска</a:t>
            </a:r>
          </a:p>
        </p:txBody>
      </p:sp>
      <p:sp>
        <p:nvSpPr>
          <p:cNvPr id="19" name="shape-986-238">
            <a:extLst xmlns:a="http://schemas.openxmlformats.org/drawingml/2006/main">
              <a:ext uri="{FF2B5EF4-FFF2-40B4-BE49-F238E27FC236}">
                <a16:creationId xmlns:a16="http://schemas.microsoft.com/office/drawing/2014/main" id="{5327D373-B303-4BA0-A633-E321C5B82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2400300" cy="2266950"/>
          </a:xfrm>
          <a:prstGeom xmlns:a="http://schemas.openxmlformats.org/drawingml/2006/main" prst="roundRect">
            <a:avLst>
              <a:gd name="adj" fmla="val 7563"/>
            </a:avLst>
          </a:prstGeom>
          <a:solidFill xmlns:a="http://schemas.openxmlformats.org/drawingml/2006/main">
            <a:srgbClr val="E64232"/>
          </a:solidFill>
          <a:ln xmlns:a="http://schemas.openxmlformats.org/drawingml/2006/main" w="9525">
            <a:solidFill>
              <a:srgbClr val="E64232"/>
            </a:solidFill>
            <a:prstDash val="solid"/>
          </a:ln>
        </p:spPr>
      </p:sp>
      <p:sp>
        <p:nvSpPr>
          <p:cNvPr id="20" name="text-1004-266">
            <a:extLst xmlns:a="http://schemas.openxmlformats.org/drawingml/2006/main">
              <a:ext uri="{FF2B5EF4-FFF2-40B4-BE49-F238E27FC236}">
                <a16:creationId xmlns:a16="http://schemas.microsoft.com/office/drawing/2014/main" id="{7DD9646F-7E40-4B35-96BD-E79BB191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533650"/>
            <a:ext cx="2057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 · Ответ</a:t>
            </a:r>
          </a:p>
        </p:txBody>
      </p:sp>
      <p:sp>
        <p:nvSpPr>
          <p:cNvPr id="21" name="text-1004-330">
            <a:extLst xmlns:a="http://schemas.openxmlformats.org/drawingml/2006/main">
              <a:ext uri="{FF2B5EF4-FFF2-40B4-BE49-F238E27FC236}">
                <a16:creationId xmlns:a16="http://schemas.microsoft.com/office/drawing/2014/main" id="{455A7F8E-A792-425E-BEC8-43BDBF2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143250"/>
            <a:ext cx="2057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индекс + улики</a:t>
            </a:r>
          </a:p>
          <a:p xmlns:a="http://schemas.openxmlformats.org/drawingml/2006/main">
            <a:pPr algn="l">
              <a:defRPr sz="1575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+ безопасный шаг</a:t>
            </a:r>
          </a:p>
        </p:txBody>
      </p:sp>
      <p:sp>
        <p:nvSpPr>
          <p:cNvPr id="22" name="shape-42-522">
            <a:extLst xmlns:a="http://schemas.openxmlformats.org/drawingml/2006/main">
              <a:ext uri="{FF2B5EF4-FFF2-40B4-BE49-F238E27FC236}">
                <a16:creationId xmlns:a16="http://schemas.microsoft.com/office/drawing/2014/main" id="{7F73B157-DB7D-4320-A026-150D23BE3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972050"/>
            <a:ext cx="1139190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C1D1A"/>
          </a:solidFill>
          <a:ln xmlns:a="http://schemas.openxmlformats.org/drawingml/2006/main" w="9525">
            <a:solidFill>
              <a:srgbClr val="3A3B36"/>
            </a:solidFill>
            <a:prstDash val="solid"/>
          </a:ln>
        </p:spPr>
      </p:sp>
      <p:sp>
        <p:nvSpPr>
          <p:cNvPr id="23" name="text-72-549">
            <a:extLst xmlns:a="http://schemas.openxmlformats.org/drawingml/2006/main">
              <a:ext uri="{FF2B5EF4-FFF2-40B4-BE49-F238E27FC236}">
                <a16:creationId xmlns:a16="http://schemas.microsoft.com/office/drawing/2014/main" id="{E9A4E7B9-E251-4CF1-B3F5-3DECE0A6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29225"/>
            <a:ext cx="619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3F0E7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3F0E7"/>
                </a:solidFill>
                <a:latin typeface="Aptos"/>
                <a:ea typeface="Aptos"/>
                <a:cs typeface="Aptos"/>
              </a:rPr>
              <a:t>ML-оценка + найденные действия = индекс риска</a:t>
            </a:r>
          </a:p>
        </p:txBody>
      </p:sp>
      <p:sp>
        <p:nvSpPr>
          <p:cNvPr id="24" name="text-720-554">
            <a:extLst xmlns:a="http://schemas.openxmlformats.org/drawingml/2006/main">
              <a:ext uri="{FF2B5EF4-FFF2-40B4-BE49-F238E27FC236}">
                <a16:creationId xmlns:a16="http://schemas.microsoft.com/office/drawing/2014/main" id="{38195885-A4F0-467C-A9C8-10F5E937B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276850"/>
            <a:ext cx="455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138"/>
          </a:bodyPr>
          <a:lstStyle xmlns:a="http://schemas.openxmlformats.org/drawingml/2006/main"/>
          <a:p xmlns:a="http://schemas.openxmlformats.org/drawingml/2006/main">
            <a:pPr algn="r">
              <a:defRPr sz="1275" b="1">
                <a:solidFill>
                  <a:srgbClr val="B5B6A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5B6AF"/>
                </a:solidFill>
                <a:latin typeface="Aptos"/>
                <a:ea typeface="Aptos"/>
                <a:cs typeface="Aptos"/>
              </a:rPr>
              <a:t>Без платного API · без ключа · меньше секунды для текста</a:t>
            </a:r>
          </a:p>
        </p:txBody>
      </p:sp>
    </p:spTree>
    <p:extLst>
      <p:ext uri="{BB962C8B-B14F-4D97-AF65-F5344CB8AC3E}">
        <p14:creationId xmlns:p14="http://schemas.microsoft.com/office/powerpoint/2010/main" val="8694700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text-42-28">
            <a:extLst xmlns:a="http://schemas.openxmlformats.org/drawingml/2006/main">
              <a:ext uri="{FF2B5EF4-FFF2-40B4-BE49-F238E27FC236}">
                <a16:creationId xmlns:a16="http://schemas.microsoft.com/office/drawing/2014/main" id="{9727AD6B-C3A4-49F0-845A-A7805DCB1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94BA6D91-E7FB-4D5E-AF5C-C8363D37D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NOVAHACK · 07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482A99D6-5A3D-4680-9682-7FC574E4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4" name="text-42-91">
            <a:extLst xmlns:a="http://schemas.openxmlformats.org/drawingml/2006/main">
              <a:ext uri="{FF2B5EF4-FFF2-40B4-BE49-F238E27FC236}">
                <a16:creationId xmlns:a16="http://schemas.microsoft.com/office/drawing/2014/main" id="{4CE33DA6-A8EE-4AC6-9746-D0FFF8B45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11144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На тесте система нашла 34 из 44 риск-примеров.</a:t>
            </a:r>
          </a:p>
        </p:txBody>
      </p:sp>
      <p:sp>
        <p:nvSpPr>
          <p:cNvPr id="5" name="text-42-160">
            <a:extLst xmlns:a="http://schemas.openxmlformats.org/drawingml/2006/main">
              <a:ext uri="{FF2B5EF4-FFF2-40B4-BE49-F238E27FC236}">
                <a16:creationId xmlns:a16="http://schemas.microsoft.com/office/drawing/2014/main" id="{A40261B8-1E21-42ED-BF35-C9A45F3A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256 RU/KZ примеров · варианты шаблона разделены · 68 сообщений в тесте</a:t>
            </a:r>
          </a:p>
        </p:txBody>
      </p:sp>
      <p:sp>
        <p:nvSpPr>
          <p:cNvPr id="6" name="shape-42-229">
            <a:extLst xmlns:a="http://schemas.openxmlformats.org/drawingml/2006/main">
              <a:ext uri="{FF2B5EF4-FFF2-40B4-BE49-F238E27FC236}">
                <a16:creationId xmlns:a16="http://schemas.microsoft.com/office/drawing/2014/main" id="{1F1F1913-F2F9-4BFF-AD1D-AB2A41CD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181225"/>
            <a:ext cx="23622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7" name="text-64-260">
            <a:extLst xmlns:a="http://schemas.openxmlformats.org/drawingml/2006/main">
              <a:ext uri="{FF2B5EF4-FFF2-40B4-BE49-F238E27FC236}">
                <a16:creationId xmlns:a16="http://schemas.microsoft.com/office/drawing/2014/main" id="{406874EA-128A-4A40-AEE8-D7AF2BFA9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0,872</a:t>
            </a:r>
          </a:p>
        </p:txBody>
      </p:sp>
      <p:sp>
        <p:nvSpPr>
          <p:cNvPr id="8" name="text-64-342">
            <a:extLst xmlns:a="http://schemas.openxmlformats.org/drawingml/2006/main">
              <a:ext uri="{FF2B5EF4-FFF2-40B4-BE49-F238E27FC236}">
                <a16:creationId xmlns:a16="http://schemas.microsoft.com/office/drawing/2014/main" id="{A24487A1-DD4D-4926-A84C-27854B7D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575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B9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B9B2"/>
                </a:solidFill>
                <a:latin typeface="Aptos"/>
                <a:ea typeface="Aptos"/>
                <a:cs typeface="Aptos"/>
              </a:rPr>
              <a:t>F1</a:t>
            </a:r>
          </a:p>
        </p:txBody>
      </p:sp>
      <p:sp>
        <p:nvSpPr>
          <p:cNvPr id="9" name="shape-322-229">
            <a:extLst xmlns:a="http://schemas.openxmlformats.org/drawingml/2006/main">
              <a:ext uri="{FF2B5EF4-FFF2-40B4-BE49-F238E27FC236}">
                <a16:creationId xmlns:a16="http://schemas.microsoft.com/office/drawing/2014/main" id="{20AEF27F-B920-4C2C-8C74-DFD7720D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181225"/>
            <a:ext cx="23622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10" name="text-344-260">
            <a:extLst xmlns:a="http://schemas.openxmlformats.org/drawingml/2006/main">
              <a:ext uri="{FF2B5EF4-FFF2-40B4-BE49-F238E27FC236}">
                <a16:creationId xmlns:a16="http://schemas.microsoft.com/office/drawing/2014/main" id="{CF71D9BA-1C4D-454B-B899-EEFDAAE6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77%</a:t>
            </a:r>
          </a:p>
        </p:txBody>
      </p:sp>
      <p:sp>
        <p:nvSpPr>
          <p:cNvPr id="11" name="text-344-342">
            <a:extLst xmlns:a="http://schemas.openxmlformats.org/drawingml/2006/main">
              <a:ext uri="{FF2B5EF4-FFF2-40B4-BE49-F238E27FC236}">
                <a16:creationId xmlns:a16="http://schemas.microsoft.com/office/drawing/2014/main" id="{DA69FC2E-235C-45C4-80B6-7F3BA213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575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B9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B9B2"/>
                </a:solidFill>
                <a:latin typeface="Aptos"/>
                <a:ea typeface="Aptos"/>
                <a:cs typeface="Aptos"/>
              </a:rPr>
              <a:t>НАЙДЕНО РИСК-ПРИМЕРОВ</a:t>
            </a:r>
          </a:p>
        </p:txBody>
      </p:sp>
      <p:sp>
        <p:nvSpPr>
          <p:cNvPr id="12" name="shape-602-229">
            <a:extLst xmlns:a="http://schemas.openxmlformats.org/drawingml/2006/main">
              <a:ext uri="{FF2B5EF4-FFF2-40B4-BE49-F238E27FC236}">
                <a16:creationId xmlns:a16="http://schemas.microsoft.com/office/drawing/2014/main" id="{212803CB-89F0-4FA6-91D4-B9C73BE65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81225"/>
            <a:ext cx="2362200" cy="15430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13" name="text-624-260">
            <a:extLst xmlns:a="http://schemas.openxmlformats.org/drawingml/2006/main">
              <a:ext uri="{FF2B5EF4-FFF2-40B4-BE49-F238E27FC236}">
                <a16:creationId xmlns:a16="http://schemas.microsoft.com/office/drawing/2014/main" id="{6133E6A7-6828-45FB-BEE7-2988EB4D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476500"/>
            <a:ext cx="19431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5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5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4" name="text-624-342">
            <a:extLst xmlns:a="http://schemas.openxmlformats.org/drawingml/2006/main">
              <a:ext uri="{FF2B5EF4-FFF2-40B4-BE49-F238E27FC236}">
                <a16:creationId xmlns:a16="http://schemas.microsoft.com/office/drawing/2014/main" id="{65C295D3-D003-49F4-9620-85135338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257550"/>
            <a:ext cx="1943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B8B9B2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B8B9B2"/>
                </a:solidFill>
                <a:latin typeface="Aptos"/>
                <a:ea typeface="Aptos"/>
                <a:cs typeface="Aptos"/>
              </a:rPr>
              <a:t>PRECISION</a:t>
            </a:r>
          </a:p>
        </p:txBody>
      </p:sp>
      <p:sp>
        <p:nvSpPr>
          <p:cNvPr id="15" name="text-922-223">
            <a:extLst xmlns:a="http://schemas.openxmlformats.org/drawingml/2006/main">
              <a:ext uri="{FF2B5EF4-FFF2-40B4-BE49-F238E27FC236}">
                <a16:creationId xmlns:a16="http://schemas.microsoft.com/office/drawing/2014/main" id="{A7637A8E-3BC6-4854-91C1-722769FD4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124075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Матрица ошибок</a:t>
            </a:r>
          </a:p>
        </p:txBody>
      </p:sp>
      <p:sp>
        <p:nvSpPr>
          <p:cNvPr id="16" name="text-980-262">
            <a:extLst xmlns:a="http://schemas.openxmlformats.org/drawingml/2006/main">
              <a:ext uri="{FF2B5EF4-FFF2-40B4-BE49-F238E27FC236}">
                <a16:creationId xmlns:a16="http://schemas.microsoft.com/office/drawing/2014/main" id="{DD6A1E07-8845-4E58-A76A-37E5B448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95550"/>
            <a:ext cx="1714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ПРЕДСКАЗАНО</a:t>
            </a:r>
          </a:p>
        </p:txBody>
      </p:sp>
      <p:sp>
        <p:nvSpPr>
          <p:cNvPr id="17" name="text-979-288">
            <a:extLst xmlns:a="http://schemas.openxmlformats.org/drawingml/2006/main">
              <a:ext uri="{FF2B5EF4-FFF2-40B4-BE49-F238E27FC236}">
                <a16:creationId xmlns:a16="http://schemas.microsoft.com/office/drawing/2014/main" id="{769E8A05-920F-4FFE-8F2F-14E40817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743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SAFE</a:t>
            </a:r>
          </a:p>
        </p:txBody>
      </p:sp>
      <p:sp>
        <p:nvSpPr>
          <p:cNvPr id="18" name="text-1080-288">
            <a:extLst xmlns:a="http://schemas.openxmlformats.org/drawingml/2006/main">
              <a:ext uri="{FF2B5EF4-FFF2-40B4-BE49-F238E27FC236}">
                <a16:creationId xmlns:a16="http://schemas.microsoft.com/office/drawing/2014/main" id="{0EE0FA75-D664-4DA2-BDCE-8E028C8B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743200"/>
            <a:ext cx="76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RISK</a:t>
            </a:r>
          </a:p>
        </p:txBody>
      </p:sp>
      <p:sp>
        <p:nvSpPr>
          <p:cNvPr id="19" name="shape-979-315">
            <a:extLst xmlns:a="http://schemas.openxmlformats.org/drawingml/2006/main">
              <a:ext uri="{FF2B5EF4-FFF2-40B4-BE49-F238E27FC236}">
                <a16:creationId xmlns:a16="http://schemas.microsoft.com/office/drawing/2014/main" id="{3B0FEC05-69E8-4E15-BD76-424777098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00375"/>
            <a:ext cx="8001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CBC8BD"/>
            </a:solidFill>
            <a:prstDash val="solid"/>
          </a:ln>
        </p:spPr>
      </p:sp>
      <p:sp>
        <p:nvSpPr>
          <p:cNvPr id="20" name="text-979-330">
            <a:extLst xmlns:a="http://schemas.openxmlformats.org/drawingml/2006/main">
              <a:ext uri="{FF2B5EF4-FFF2-40B4-BE49-F238E27FC236}">
                <a16:creationId xmlns:a16="http://schemas.microsoft.com/office/drawing/2014/main" id="{D8D68AD6-65A9-4065-8A38-2F057256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1432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24</a:t>
            </a:r>
          </a:p>
        </p:txBody>
      </p:sp>
      <p:sp>
        <p:nvSpPr>
          <p:cNvPr id="21" name="shape-1080-315">
            <a:extLst xmlns:a="http://schemas.openxmlformats.org/drawingml/2006/main">
              <a:ext uri="{FF2B5EF4-FFF2-40B4-BE49-F238E27FC236}">
                <a16:creationId xmlns:a16="http://schemas.microsoft.com/office/drawing/2014/main" id="{519B7C63-7A18-40D2-93ED-903052004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000375"/>
            <a:ext cx="8001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F3F0E7"/>
          </a:solidFill>
          <a:ln xmlns:a="http://schemas.openxmlformats.org/drawingml/2006/main" w="9525">
            <a:solidFill>
              <a:srgbClr val="CBC8BD"/>
            </a:solidFill>
            <a:prstDash val="solid"/>
          </a:ln>
        </p:spPr>
      </p:sp>
      <p:sp>
        <p:nvSpPr>
          <p:cNvPr id="22" name="text-1080-330">
            <a:extLst xmlns:a="http://schemas.openxmlformats.org/drawingml/2006/main">
              <a:ext uri="{FF2B5EF4-FFF2-40B4-BE49-F238E27FC236}">
                <a16:creationId xmlns:a16="http://schemas.microsoft.com/office/drawing/2014/main" id="{F4D24A8F-A465-48D5-AFCD-F9FC1EF7A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14325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23" name="shape-979-397">
            <a:extLst xmlns:a="http://schemas.openxmlformats.org/drawingml/2006/main">
              <a:ext uri="{FF2B5EF4-FFF2-40B4-BE49-F238E27FC236}">
                <a16:creationId xmlns:a16="http://schemas.microsoft.com/office/drawing/2014/main" id="{0569E705-68AE-41EE-94F6-34822DB2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781425"/>
            <a:ext cx="8001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E8B83E"/>
          </a:solidFill>
          <a:ln xmlns:a="http://schemas.openxmlformats.org/drawingml/2006/main" w="0">
            <a:solidFill>
              <a:srgbClr val="CBC8BD"/>
            </a:solidFill>
            <a:prstDash val="solid"/>
          </a:ln>
        </p:spPr>
      </p:sp>
      <p:sp>
        <p:nvSpPr>
          <p:cNvPr id="24" name="text-979-412">
            <a:extLst xmlns:a="http://schemas.openxmlformats.org/drawingml/2006/main">
              <a:ext uri="{FF2B5EF4-FFF2-40B4-BE49-F238E27FC236}">
                <a16:creationId xmlns:a16="http://schemas.microsoft.com/office/drawing/2014/main" id="{BA421744-D94B-46CA-916B-8BC189CC9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924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5" name="shape-1080-397">
            <a:extLst xmlns:a="http://schemas.openxmlformats.org/drawingml/2006/main">
              <a:ext uri="{FF2B5EF4-FFF2-40B4-BE49-F238E27FC236}">
                <a16:creationId xmlns:a16="http://schemas.microsoft.com/office/drawing/2014/main" id="{0344C5D0-0FE7-45C8-BB86-2CBD83A7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781425"/>
            <a:ext cx="800100" cy="628650"/>
          </a:xfrm>
          <a:prstGeom xmlns:a="http://schemas.openxmlformats.org/drawingml/2006/main" prst="roundRect">
            <a:avLst>
              <a:gd name="adj" fmla="val 15152"/>
            </a:avLst>
          </a:prstGeom>
          <a:solidFill xmlns:a="http://schemas.openxmlformats.org/drawingml/2006/main">
            <a:srgbClr val="236B53"/>
          </a:solidFill>
          <a:ln xmlns:a="http://schemas.openxmlformats.org/drawingml/2006/main" w="0">
            <a:solidFill>
              <a:srgbClr val="CBC8BD"/>
            </a:solidFill>
            <a:prstDash val="solid"/>
          </a:ln>
        </p:spPr>
      </p:sp>
      <p:sp>
        <p:nvSpPr>
          <p:cNvPr id="26" name="text-1080-412">
            <a:extLst xmlns:a="http://schemas.openxmlformats.org/drawingml/2006/main">
              <a:ext uri="{FF2B5EF4-FFF2-40B4-BE49-F238E27FC236}">
                <a16:creationId xmlns:a16="http://schemas.microsoft.com/office/drawing/2014/main" id="{51C11290-BD3C-467C-AF1A-8226C6E46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924300"/>
            <a:ext cx="800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34</a:t>
            </a:r>
          </a:p>
        </p:txBody>
      </p:sp>
      <p:sp>
        <p:nvSpPr>
          <p:cNvPr id="27" name="text-875-335">
            <a:extLst xmlns:a="http://schemas.openxmlformats.org/drawingml/2006/main">
              <a:ext uri="{FF2B5EF4-FFF2-40B4-BE49-F238E27FC236}">
                <a16:creationId xmlns:a16="http://schemas.microsoft.com/office/drawing/2014/main" id="{05C54EC1-CABA-45B8-AB88-CD87503D8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ФАКТ: SAFE</a:t>
            </a:r>
          </a:p>
        </p:txBody>
      </p:sp>
      <p:sp>
        <p:nvSpPr>
          <p:cNvPr id="28" name="text-875-417">
            <a:extLst xmlns:a="http://schemas.openxmlformats.org/drawingml/2006/main">
              <a:ext uri="{FF2B5EF4-FFF2-40B4-BE49-F238E27FC236}">
                <a16:creationId xmlns:a16="http://schemas.microsoft.com/office/drawing/2014/main" id="{DA7DE8F9-7C6B-4F11-9EFD-CACB37A5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71925"/>
            <a:ext cx="857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96A65"/>
                </a:solidFill>
                <a:latin typeface="Aptos"/>
                <a:ea typeface="Aptos"/>
                <a:cs typeface="Aptos"/>
              </a:rPr>
              <a:t>ФАКТ: RISK</a:t>
            </a:r>
          </a:p>
        </p:txBody>
      </p:sp>
      <p:sp>
        <p:nvSpPr>
          <p:cNvPr id="29" name="shape-42-474">
            <a:extLst xmlns:a="http://schemas.openxmlformats.org/drawingml/2006/main">
              <a:ext uri="{FF2B5EF4-FFF2-40B4-BE49-F238E27FC236}">
                <a16:creationId xmlns:a16="http://schemas.microsoft.com/office/drawing/2014/main" id="{A8E8B828-8245-4610-890C-E1737363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14850"/>
            <a:ext cx="11010900" cy="1438275"/>
          </a:xfrm>
          <a:prstGeom xmlns:a="http://schemas.openxmlformats.org/drawingml/2006/main" prst="roundRect">
            <a:avLst>
              <a:gd name="adj" fmla="val 11921"/>
            </a:avLst>
          </a:prstGeom>
          <a:solidFill xmlns:a="http://schemas.openxmlformats.org/drawingml/2006/main">
            <a:srgbClr val="FFF4D9"/>
          </a:solidFill>
          <a:ln xmlns:a="http://schemas.openxmlformats.org/drawingml/2006/main" w="9525">
            <a:solidFill>
              <a:srgbClr val="E5CE92"/>
            </a:solidFill>
            <a:prstDash val="solid"/>
          </a:ln>
        </p:spPr>
      </p:sp>
      <p:sp>
        <p:nvSpPr>
          <p:cNvPr id="30" name="text-70-497">
            <a:extLst xmlns:a="http://schemas.openxmlformats.org/drawingml/2006/main">
              <a:ext uri="{FF2B5EF4-FFF2-40B4-BE49-F238E27FC236}">
                <a16:creationId xmlns:a16="http://schemas.microsoft.com/office/drawing/2014/main" id="{DE3BB9FF-A6DE-44D6-9525-F8CAE14FD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33925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A6410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A6410"/>
                </a:solidFill>
                <a:latin typeface="Aptos"/>
                <a:ea typeface="Aptos"/>
                <a:cs typeface="Aptos"/>
              </a:rPr>
              <a:t>ОГРАНИЧЕНИЕ</a:t>
            </a:r>
          </a:p>
        </p:txBody>
      </p:sp>
      <p:sp>
        <p:nvSpPr>
          <p:cNvPr id="31" name="text-70-528">
            <a:extLst xmlns:a="http://schemas.openxmlformats.org/drawingml/2006/main">
              <a:ext uri="{FF2B5EF4-FFF2-40B4-BE49-F238E27FC236}">
                <a16:creationId xmlns:a16="http://schemas.microsoft.com/office/drawing/2014/main" id="{6A791395-C5BD-4DB1-9C15-E726920A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29200"/>
            <a:ext cx="990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Корпус синтетический. Эти цифры проверяют механику, а не качество на реальном рынке.</a:t>
            </a:r>
          </a:p>
        </p:txBody>
      </p:sp>
      <p:sp>
        <p:nvSpPr>
          <p:cNvPr id="32" name="text-70-588">
            <a:extLst xmlns:a="http://schemas.openxmlformats.org/drawingml/2006/main">
              <a:ext uri="{FF2B5EF4-FFF2-40B4-BE49-F238E27FC236}">
                <a16:creationId xmlns:a16="http://schemas.microsoft.com/office/drawing/2014/main" id="{AE9EFE47-9BF0-48FE-BB64-6564DA2C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00700"/>
            <a:ext cx="990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Следующий шаг: анонимизированные реальные офферы, независимая разметка и калибровка порога.</a:t>
            </a:r>
          </a:p>
        </p:txBody>
      </p:sp>
    </p:spTree>
    <p:extLst>
      <p:ext uri="{BB962C8B-B14F-4D97-AF65-F5344CB8AC3E}">
        <p14:creationId xmlns:p14="http://schemas.microsoft.com/office/powerpoint/2010/main" val="16172393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E6423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ext-42-28">
            <a:extLst xmlns:a="http://schemas.openxmlformats.org/drawingml/2006/main">
              <a:ext uri="{FF2B5EF4-FFF2-40B4-BE49-F238E27FC236}">
                <a16:creationId xmlns:a16="http://schemas.microsoft.com/office/drawing/2014/main" id="{28A46EB1-FD43-495A-AFC6-D9A6F03E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670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QAQPAN 232</a:t>
            </a:r>
          </a:p>
        </p:txBody>
      </p:sp>
      <p:sp>
        <p:nvSpPr>
          <p:cNvPr id="2" name="text-1070-28">
            <a:extLst xmlns:a="http://schemas.openxmlformats.org/drawingml/2006/main">
              <a:ext uri="{FF2B5EF4-FFF2-40B4-BE49-F238E27FC236}">
                <a16:creationId xmlns:a16="http://schemas.microsoft.com/office/drawing/2014/main" id="{7D61847D-116B-4070-9045-191DD997B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NOVAHACK · 08</a:t>
            </a:r>
          </a:p>
        </p:txBody>
      </p:sp>
      <p:sp>
        <p:nvSpPr>
          <p:cNvPr id="3" name="line-42-58">
            <a:extLst xmlns:a="http://schemas.openxmlformats.org/drawingml/2006/main">
              <a:ext uri="{FF2B5EF4-FFF2-40B4-BE49-F238E27FC236}">
                <a16:creationId xmlns:a16="http://schemas.microsoft.com/office/drawing/2014/main" id="{3383E6C7-27BD-4296-AC70-82A3ADDE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524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F08379"/>
            </a:solidFill>
            <a:prstDash val="solid"/>
          </a:ln>
        </p:spPr>
      </p:sp>
      <p:sp>
        <p:nvSpPr>
          <p:cNvPr id="4" name="text-42-91">
            <a:extLst xmlns:a="http://schemas.openxmlformats.org/drawingml/2006/main">
              <a:ext uri="{FF2B5EF4-FFF2-40B4-BE49-F238E27FC236}">
                <a16:creationId xmlns:a16="http://schemas.microsoft.com/office/drawing/2014/main" id="{666C107D-37E4-49A8-ADB7-BC5D23AF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866775"/>
            <a:ext cx="85725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Начинаем с вузов</a:t>
            </a:r>
          </a:p>
          <a:p xmlns:a="http://schemas.openxmlformats.org/drawingml/2006/main">
            <a:pPr algn="l">
              <a:defRPr sz="36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6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и сайтов вакансий.</a:t>
            </a:r>
          </a:p>
        </p:txBody>
      </p:sp>
      <p:sp>
        <p:nvSpPr>
          <p:cNvPr id="5" name="shape-42-278">
            <a:extLst xmlns:a="http://schemas.openxmlformats.org/drawingml/2006/main">
              <a:ext uri="{FF2B5EF4-FFF2-40B4-BE49-F238E27FC236}">
                <a16:creationId xmlns:a16="http://schemas.microsoft.com/office/drawing/2014/main" id="{A3A13913-38DA-4F00-9F24-36D68C0FE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47950"/>
            <a:ext cx="2438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83125"/>
          </a:solidFill>
          <a:ln xmlns:a="http://schemas.openxmlformats.org/drawingml/2006/main" w="9525">
            <a:solidFill>
              <a:srgbClr val="F08379"/>
            </a:solidFill>
            <a:prstDash val="solid"/>
          </a:ln>
        </p:spPr>
      </p:sp>
      <p:sp>
        <p:nvSpPr>
          <p:cNvPr id="6" name="text-62-300">
            <a:extLst xmlns:a="http://schemas.openxmlformats.org/drawingml/2006/main">
              <a:ext uri="{FF2B5EF4-FFF2-40B4-BE49-F238E27FC236}">
                <a16:creationId xmlns:a16="http://schemas.microsoft.com/office/drawing/2014/main" id="{994C3F0A-E56B-4728-AA15-FEB59149E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857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C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C4B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text-62-350">
            <a:extLst xmlns:a="http://schemas.openxmlformats.org/drawingml/2006/main">
              <a:ext uri="{FF2B5EF4-FFF2-40B4-BE49-F238E27FC236}">
                <a16:creationId xmlns:a16="http://schemas.microsoft.com/office/drawing/2014/main" id="{94F4C17E-DB25-41F5-AFEC-8B42E107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333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ВУЗЫ</a:t>
            </a:r>
          </a:p>
        </p:txBody>
      </p:sp>
      <p:sp>
        <p:nvSpPr>
          <p:cNvPr id="8" name="text-62-403">
            <a:extLst xmlns:a="http://schemas.openxmlformats.org/drawingml/2006/main">
              <a:ext uri="{FF2B5EF4-FFF2-40B4-BE49-F238E27FC236}">
                <a16:creationId xmlns:a16="http://schemas.microsoft.com/office/drawing/2014/main" id="{98E92331-F00D-4773-8421-6CC157C5B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38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E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E0DD"/>
                </a:solidFill>
                <a:latin typeface="Aptos"/>
                <a:ea typeface="Aptos"/>
                <a:cs typeface="Aptos"/>
              </a:rPr>
              <a:t>финансовая</a:t>
            </a:r>
          </a:p>
          <a:p xmlns:a="http://schemas.openxmlformats.org/drawingml/2006/main">
            <a:pPr algn="l">
              <a:defRPr sz="1350" b="0">
                <a:solidFill>
                  <a:srgbClr val="FFE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E0DD"/>
                </a:solidFill>
                <a:latin typeface="Aptos"/>
                <a:ea typeface="Aptos"/>
                <a:cs typeface="Aptos"/>
              </a:rPr>
              <a:t>грамотность</a:t>
            </a:r>
          </a:p>
        </p:txBody>
      </p:sp>
      <p:sp>
        <p:nvSpPr>
          <p:cNvPr id="9" name="shape-342-278">
            <a:extLst xmlns:a="http://schemas.openxmlformats.org/drawingml/2006/main">
              <a:ext uri="{FF2B5EF4-FFF2-40B4-BE49-F238E27FC236}">
                <a16:creationId xmlns:a16="http://schemas.microsoft.com/office/drawing/2014/main" id="{2C1760D2-AA4A-45D2-B348-48D86B9AA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2438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83125"/>
          </a:solidFill>
          <a:ln xmlns:a="http://schemas.openxmlformats.org/drawingml/2006/main" w="9525">
            <a:solidFill>
              <a:srgbClr val="F08379"/>
            </a:solidFill>
            <a:prstDash val="solid"/>
          </a:ln>
        </p:spPr>
      </p:sp>
      <p:sp>
        <p:nvSpPr>
          <p:cNvPr id="10" name="text-362-300">
            <a:extLst xmlns:a="http://schemas.openxmlformats.org/drawingml/2006/main">
              <a:ext uri="{FF2B5EF4-FFF2-40B4-BE49-F238E27FC236}">
                <a16:creationId xmlns:a16="http://schemas.microsoft.com/office/drawing/2014/main" id="{F639A25E-6493-43D3-B512-26710C59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857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C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C4B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text-362-350">
            <a:extLst xmlns:a="http://schemas.openxmlformats.org/drawingml/2006/main">
              <a:ext uri="{FF2B5EF4-FFF2-40B4-BE49-F238E27FC236}">
                <a16:creationId xmlns:a16="http://schemas.microsoft.com/office/drawing/2014/main" id="{B231E556-0895-477D-A697-EEACD780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333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JOB-ПЛАТФОРМЫ</a:t>
            </a:r>
          </a:p>
        </p:txBody>
      </p:sp>
      <p:sp>
        <p:nvSpPr>
          <p:cNvPr id="12" name="text-362-403">
            <a:extLst xmlns:a="http://schemas.openxmlformats.org/drawingml/2006/main">
              <a:ext uri="{FF2B5EF4-FFF2-40B4-BE49-F238E27FC236}">
                <a16:creationId xmlns:a16="http://schemas.microsoft.com/office/drawing/2014/main" id="{99A723CB-52CB-4F2C-8FCB-92EF14715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838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E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E0DD"/>
                </a:solidFill>
                <a:latin typeface="Aptos"/>
                <a:ea typeface="Aptos"/>
                <a:cs typeface="Aptos"/>
              </a:rPr>
              <a:t>проверка</a:t>
            </a:r>
          </a:p>
          <a:p xmlns:a="http://schemas.openxmlformats.org/drawingml/2006/main">
            <a:pPr algn="l">
              <a:defRPr sz="1350" b="0">
                <a:solidFill>
                  <a:srgbClr val="FFE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E0DD"/>
                </a:solidFill>
                <a:latin typeface="Aptos"/>
                <a:ea typeface="Aptos"/>
                <a:cs typeface="Aptos"/>
              </a:rPr>
              <a:t>текста вакансии</a:t>
            </a:r>
          </a:p>
        </p:txBody>
      </p:sp>
      <p:sp>
        <p:nvSpPr>
          <p:cNvPr id="13" name="shape-642-278">
            <a:extLst xmlns:a="http://schemas.openxmlformats.org/drawingml/2006/main">
              <a:ext uri="{FF2B5EF4-FFF2-40B4-BE49-F238E27FC236}">
                <a16:creationId xmlns:a16="http://schemas.microsoft.com/office/drawing/2014/main" id="{C197A252-06EF-4C03-A59E-3AB7E580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47950"/>
            <a:ext cx="2438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C83125"/>
          </a:solidFill>
          <a:ln xmlns:a="http://schemas.openxmlformats.org/drawingml/2006/main" w="9525">
            <a:solidFill>
              <a:srgbClr val="F08379"/>
            </a:solidFill>
            <a:prstDash val="solid"/>
          </a:ln>
        </p:spPr>
      </p:sp>
      <p:sp>
        <p:nvSpPr>
          <p:cNvPr id="14" name="text-662-300">
            <a:extLst xmlns:a="http://schemas.openxmlformats.org/drawingml/2006/main">
              <a:ext uri="{FF2B5EF4-FFF2-40B4-BE49-F238E27FC236}">
                <a16:creationId xmlns:a16="http://schemas.microsoft.com/office/drawing/2014/main" id="{C3C6AF6B-B80C-48F7-835E-0856D8B0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575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C4B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C4B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text-662-350">
            <a:extLst xmlns:a="http://schemas.openxmlformats.org/drawingml/2006/main">
              <a:ext uri="{FF2B5EF4-FFF2-40B4-BE49-F238E27FC236}">
                <a16:creationId xmlns:a16="http://schemas.microsoft.com/office/drawing/2014/main" id="{11213E24-83DA-4DA8-98FD-FC27926F5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333750"/>
            <a:ext cx="2057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БАНКИ</a:t>
            </a:r>
          </a:p>
        </p:txBody>
      </p:sp>
      <p:sp>
        <p:nvSpPr>
          <p:cNvPr id="16" name="text-662-403">
            <a:extLst xmlns:a="http://schemas.openxmlformats.org/drawingml/2006/main">
              <a:ext uri="{FF2B5EF4-FFF2-40B4-BE49-F238E27FC236}">
                <a16:creationId xmlns:a16="http://schemas.microsoft.com/office/drawing/2014/main" id="{92B41A44-73AB-42A3-A661-F91CB840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838575"/>
            <a:ext cx="20574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E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E0DD"/>
                </a:solidFill>
                <a:latin typeface="Aptos"/>
                <a:ea typeface="Aptos"/>
                <a:cs typeface="Aptos"/>
              </a:rPr>
              <a:t>профилактика</a:t>
            </a:r>
          </a:p>
          <a:p xmlns:a="http://schemas.openxmlformats.org/drawingml/2006/main">
            <a:pPr algn="l">
              <a:defRPr sz="1350" b="0">
                <a:solidFill>
                  <a:srgbClr val="FFE0D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FFE0DD"/>
                </a:solidFill>
                <a:latin typeface="Aptos"/>
                <a:ea typeface="Aptos"/>
                <a:cs typeface="Aptos"/>
              </a:rPr>
              <a:t>мошенничества</a:t>
            </a:r>
          </a:p>
        </p:txBody>
      </p:sp>
      <p:sp>
        <p:nvSpPr>
          <p:cNvPr id="17" name="shape-942-278">
            <a:extLst xmlns:a="http://schemas.openxmlformats.org/drawingml/2006/main">
              <a:ext uri="{FF2B5EF4-FFF2-40B4-BE49-F238E27FC236}">
                <a16:creationId xmlns:a16="http://schemas.microsoft.com/office/drawing/2014/main" id="{2670B40D-2A92-478E-816C-469FF5EE7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647950"/>
            <a:ext cx="2438400" cy="20002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8" name="text-962-302">
            <a:extLst xmlns:a="http://schemas.openxmlformats.org/drawingml/2006/main">
              <a:ext uri="{FF2B5EF4-FFF2-40B4-BE49-F238E27FC236}">
                <a16:creationId xmlns:a16="http://schemas.microsoft.com/office/drawing/2014/main" id="{E20FFD21-FD3E-4C6F-9CCA-75B6636F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76550"/>
            <a:ext cx="2057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E6423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E64232"/>
                </a:solidFill>
                <a:latin typeface="Aptos"/>
                <a:ea typeface="Aptos"/>
                <a:cs typeface="Aptos"/>
              </a:rPr>
              <a:t>ЕДИНСТВЕННЫЙ KPI</a:t>
            </a:r>
          </a:p>
        </p:txBody>
      </p:sp>
      <p:sp>
        <p:nvSpPr>
          <p:cNvPr id="19" name="text-962-350">
            <a:extLst xmlns:a="http://schemas.openxmlformats.org/drawingml/2006/main">
              <a:ext uri="{FF2B5EF4-FFF2-40B4-BE49-F238E27FC236}">
                <a16:creationId xmlns:a16="http://schemas.microsoft.com/office/drawing/2014/main" id="{30C0E565-02BA-41B8-8816-BD4573A07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333750"/>
            <a:ext cx="2057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774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не отдал</a:t>
            </a:r>
          </a:p>
          <a:p xmlns:a="http://schemas.openxmlformats.org/drawingml/2006/main">
            <a:pPr algn="l">
              <a:defRPr sz="2325" b="1">
                <a:solidFill>
                  <a:srgbClr val="10110F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10110F"/>
                </a:solidFill>
                <a:latin typeface="Aptos"/>
                <a:ea typeface="Aptos"/>
                <a:cs typeface="Aptos"/>
              </a:rPr>
              <a:t>карту</a:t>
            </a:r>
          </a:p>
        </p:txBody>
      </p:sp>
      <p:sp>
        <p:nvSpPr>
          <p:cNvPr id="20" name="text-962-443">
            <a:extLst xmlns:a="http://schemas.openxmlformats.org/drawingml/2006/main">
              <a:ext uri="{FF2B5EF4-FFF2-40B4-BE49-F238E27FC236}">
                <a16:creationId xmlns:a16="http://schemas.microsoft.com/office/drawing/2014/main" id="{3D285BD3-8F32-4E17-B057-0DEA5A341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219575"/>
            <a:ext cx="2057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6A65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6A65"/>
                </a:solidFill>
                <a:latin typeface="Aptos"/>
                <a:ea typeface="Aptos"/>
                <a:cs typeface="Aptos"/>
              </a:rPr>
              <a:t>после проверки</a:t>
            </a:r>
          </a:p>
        </p:txBody>
      </p:sp>
      <p:sp>
        <p:nvSpPr>
          <p:cNvPr id="21" name="text-42-527">
            <a:extLst xmlns:a="http://schemas.openxmlformats.org/drawingml/2006/main">
              <a:ext uri="{FF2B5EF4-FFF2-40B4-BE49-F238E27FC236}">
                <a16:creationId xmlns:a16="http://schemas.microsoft.com/office/drawing/2014/main" id="{57DB318F-FAE2-41E0-9E3B-BF80B543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019675"/>
            <a:ext cx="1047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E0D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E0DD"/>
                </a:solidFill>
                <a:latin typeface="Aptos"/>
                <a:ea typeface="Aptos"/>
                <a:cs typeface="Aptos"/>
              </a:rPr>
              <a:t>SIGMABEKI · Saitov · Bakasov · Dzhangaziev · Kurmanbekov</a:t>
            </a:r>
          </a:p>
        </p:txBody>
      </p:sp>
      <p:sp>
        <p:nvSpPr>
          <p:cNvPr id="22" name="text-42-557">
            <a:extLst xmlns:a="http://schemas.openxmlformats.org/drawingml/2006/main">
              <a:ext uri="{FF2B5EF4-FFF2-40B4-BE49-F238E27FC236}">
                <a16:creationId xmlns:a16="http://schemas.microsoft.com/office/drawing/2014/main" id="{C71F5EEF-1D5C-49B6-9DA9-77445B29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05425"/>
            <a:ext cx="981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1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Проверь обещание раньше, чем банк проверит перевод.</a:t>
            </a:r>
          </a:p>
        </p:txBody>
      </p:sp>
      <p:sp>
        <p:nvSpPr>
          <p:cNvPr id="23" name="shape-42-616">
            <a:extLst xmlns:a="http://schemas.openxmlformats.org/drawingml/2006/main">
              <a:ext uri="{FF2B5EF4-FFF2-40B4-BE49-F238E27FC236}">
                <a16:creationId xmlns:a16="http://schemas.microsoft.com/office/drawing/2014/main" id="{0667CAE9-2ED0-4ACE-B7FD-D4FD5421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11010900" cy="495300"/>
          </a:xfrm>
          <a:prstGeom xmlns:a="http://schemas.openxmlformats.org/drawingml/2006/main" prst="roundRect">
            <a:avLst>
              <a:gd name="adj" fmla="val 23077"/>
            </a:avLst>
          </a:prstGeom>
          <a:solidFill xmlns:a="http://schemas.openxmlformats.org/drawingml/2006/main">
            <a:srgbClr val="10110F"/>
          </a:solidFill>
          <a:ln xmlns:a="http://schemas.openxmlformats.org/drawingml/2006/main" w="0">
            <a:solidFill>
              <a:srgbClr val="10110F"/>
            </a:solidFill>
            <a:prstDash val="solid"/>
          </a:ln>
        </p:spPr>
      </p:sp>
      <p:sp>
        <p:nvSpPr>
          <p:cNvPr id="24" name="text-66-631">
            <a:extLst xmlns:a="http://schemas.openxmlformats.org/drawingml/2006/main">
              <a:ext uri="{FF2B5EF4-FFF2-40B4-BE49-F238E27FC236}">
                <a16:creationId xmlns:a16="http://schemas.microsoft.com/office/drawing/2014/main" id="{E7189590-9B8F-45CD-A988-9AA93A762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10275"/>
            <a:ext cx="10553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LIVE MVP  →  qaqpan-232.osprey-shed6h9b8p81a.Qaqpan.site</a:t>
            </a:r>
          </a:p>
        </p:txBody>
      </p:sp>
    </p:spTree>
    <p:extLst>
      <p:ext uri="{BB962C8B-B14F-4D97-AF65-F5344CB8AC3E}">
        <p14:creationId xmlns:p14="http://schemas.microsoft.com/office/powerpoint/2010/main" val="925162184"/>
      </p:ext>
    </p:extLst>
  </p:cSld>
</p:sld>
</file>

<file path=ppt/theme/theme1.xml><?xml version="1.0" encoding="utf-8"?>
<a:theme xmlns:a="http://schemas.openxmlformats.org/drawingml/2006/main" name="Qaqpan">
  <a:themeElements>
    <a:clrScheme name="Qaqpa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Qaqpa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2026-08-09T17:24:02.2730000Z</dcterms:created>
  <dcterms:modified xsi:type="dcterms:W3CDTF">2026-08-09T17:24:02.2730000Z</dcterms:modified>
</coreProperties>
</file>